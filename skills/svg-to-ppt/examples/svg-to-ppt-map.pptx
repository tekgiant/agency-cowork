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5191-338A-5B4E-A965-CD7D6F24B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80401-A1F8-44CE-78CB-D950B0C86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DB669-F3FF-18FC-1E42-66E741E40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BC31A-2096-14AD-7A65-85088601B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6F0B7-44DD-F45B-9DF4-016C974D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42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CDF9-75AD-FE27-0F97-51F793E4E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014FE-C2B6-8538-9EC8-0F89D7412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1BBB9-D013-6E3C-7F94-BCE87D0F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2415D-BCA3-33D4-EDD9-0E87D267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DBD7-9B55-6684-A04C-F5C920C9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92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3BA4-4DBF-50AA-B491-51D85169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E9DD0-49C4-469A-C8F2-9FA3DACCD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19242-03A6-1B36-256C-B912C2E1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C997B-ED26-11D7-2DC7-B8FD0E779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6132D-87D4-C1FF-F732-791F359F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0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643C1-0368-893D-5FDD-F8EFE57F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3628E-7073-6917-711C-DF640CF2E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DC54B-1266-75AA-B89F-6C1DFB8EE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6E318-C70F-14C5-51F3-A84A831B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C0F10-9C28-55FF-D47E-530FC716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9D5E8-20E1-8BA7-E951-2B03646E9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3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A2F42-4620-CBFC-4B99-21DDEB1D8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D74C7-FC28-2437-670F-5C205E503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64851-2EC0-8E6B-2B04-9D97409B0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915874-236D-F633-DE4B-E01C7F1BC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9794A-4FA6-2955-9326-161F0FC4D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48A1AB-1D81-6AE8-FF48-78CD6D683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3355CD-DD36-0168-2147-B84C5A7BC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FDEA4-7504-7E7D-1626-05A99FB2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37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1633B-BD5E-4893-1E28-A5BE37B4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1E58-9B9F-82FC-C481-5C5D5C8A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46C2D-A895-1800-A3DD-39D33DFF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C73A1-27F4-1304-FA45-2568D62D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06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279EDE-B5AB-3D6D-32D7-893B6C1F9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9E9D7-CDBE-C8D3-7B6B-B6AF7CB5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A2249-B377-6613-8661-995A77A7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2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B0DA-BD54-C613-F219-2ECE40174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C94AD-F300-3F8A-9A50-2B7804595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6B9A0-DCDA-AE66-08B5-B31BBCB1E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39BE4-50C1-3C95-7F57-02A33A6D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37431-6233-A0E4-A479-6415AEE3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EB864-F7FC-21A2-21FB-B2C5D07D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1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372F4-A644-D077-F1AA-BAD4E29D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FB4565-4BCD-CBE2-5992-6166BF5C0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DB5AD-CA0F-C5FD-115B-F9B45ADD8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E25D0-A094-B386-A3A1-E3C363F75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59C83-E3EB-B9D8-4C63-6B1F39FF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41C44-284B-C327-0FAF-40C23D79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60C8-25BC-D144-99F2-4A4CFB13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C9568-4118-4B57-889D-6D4873718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EA6EF-ECDE-8CCF-8256-8682B57DE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9AA48-3B33-06AD-7076-3458FB390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8B02B-DEC3-E12E-326C-B2148F61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83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C8B94-A676-138A-D285-A4DC10094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66886-CB5C-B108-4EBC-1EC613402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1DDE9-789C-2B04-5B8A-8406524DD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76F56-E9D3-C271-B520-116DE690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BD4F2-57C3-DAF3-2B5B-8FF08A53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44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B35AEC-B20A-63DC-8487-E9722C31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155A-B855-9BD4-70BE-1A151EB9F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E3D6D-2987-A3D3-7C22-F0C5C3642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C476AD-22F7-47AD-9B49-66FF8A431BF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622BF-4D09-EAF4-057D-9BA810910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00EA7-F6A1-A666-700A-DDC5A3CC5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99221-9043-4F4F-9565-9E8CC08C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6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4">
            <a:extLst>
              <a:ext uri="{FF2B5EF4-FFF2-40B4-BE49-F238E27FC236}">
                <a16:creationId xmlns:a16="http://schemas.microsoft.com/office/drawing/2014/main" id="{F1CCF132-8EB0-6DE2-96F8-0055D9FB7AD3}"/>
              </a:ext>
            </a:extLst>
          </p:cNvPr>
          <p:cNvGrpSpPr/>
          <p:nvPr/>
        </p:nvGrpSpPr>
        <p:grpSpPr>
          <a:xfrm>
            <a:off x="497632" y="0"/>
            <a:ext cx="11196735" cy="6858000"/>
            <a:chOff x="497632" y="0"/>
            <a:chExt cx="11196735" cy="6858000"/>
          </a:xfrm>
        </p:grpSpPr>
        <p:grpSp>
          <p:nvGrpSpPr>
            <p:cNvPr id="7" name="Graphic 4">
              <a:extLst>
                <a:ext uri="{FF2B5EF4-FFF2-40B4-BE49-F238E27FC236}">
                  <a16:creationId xmlns:a16="http://schemas.microsoft.com/office/drawing/2014/main" id="{F0CA6405-9645-7F11-B5AC-42905351BED6}"/>
                </a:ext>
              </a:extLst>
            </p:cNvPr>
            <p:cNvGrpSpPr/>
            <p:nvPr/>
          </p:nvGrpSpPr>
          <p:grpSpPr>
            <a:xfrm>
              <a:off x="497632" y="0"/>
              <a:ext cx="11196735" cy="6858000"/>
              <a:chOff x="497632" y="0"/>
              <a:chExt cx="11196735" cy="6858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4861035-B1F3-42FD-87BC-ED0DDCBED61D}"/>
                  </a:ext>
                </a:extLst>
              </p:cNvPr>
              <p:cNvSpPr/>
              <p:nvPr/>
            </p:nvSpPr>
            <p:spPr>
              <a:xfrm>
                <a:off x="497632" y="0"/>
                <a:ext cx="11196735" cy="6858000"/>
              </a:xfrm>
              <a:prstGeom prst="rect">
                <a:avLst/>
              </a:prstGeom>
              <a:solidFill>
                <a:srgbClr val="F0F2F7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D1F7855-99C1-1DB3-ED24-7EDFDC6CBFA1}"/>
                  </a:ext>
                </a:extLst>
              </p:cNvPr>
              <p:cNvSpPr/>
              <p:nvPr/>
            </p:nvSpPr>
            <p:spPr>
              <a:xfrm>
                <a:off x="497632" y="0"/>
                <a:ext cx="11196735" cy="447869"/>
              </a:xfrm>
              <a:prstGeom prst="rect">
                <a:avLst/>
              </a:prstGeom>
              <a:solidFill>
                <a:srgbClr val="1E293B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7EDA58-4ACE-F71D-B704-36E97FE8CC76}"/>
                  </a:ext>
                </a:extLst>
              </p:cNvPr>
              <p:cNvSpPr txBox="1"/>
              <p:nvPr/>
            </p:nvSpPr>
            <p:spPr>
              <a:xfrm>
                <a:off x="5483038" y="10065"/>
                <a:ext cx="1225921" cy="212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75" b="1" spc="0" baseline="0">
                    <a:ln/>
                    <a:solidFill>
                      <a:srgbClr val="94A3B8"/>
                    </a:solidFill>
                    <a:latin typeface="Segoe UI"/>
                    <a:cs typeface="Segoe UI"/>
                    <a:sym typeface="Segoe UI"/>
                    <a:rtl val="0"/>
                  </a:rPr>
                  <a:t>SVG-TO-PPT SKILL PACK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00D82D-9836-0FD0-FCE7-0415D450D12A}"/>
                  </a:ext>
                </a:extLst>
              </p:cNvPr>
              <p:cNvSpPr txBox="1"/>
              <p:nvPr/>
            </p:nvSpPr>
            <p:spPr>
              <a:xfrm>
                <a:off x="4718971" y="140258"/>
                <a:ext cx="2754056" cy="258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350" b="1" spc="0" baseline="0">
                    <a:ln/>
                    <a:solidFill>
                      <a:srgbClr val="F8FAFC"/>
                    </a:solidFill>
                    <a:latin typeface="Segoe UI"/>
                    <a:cs typeface="Segoe UI"/>
                    <a:sym typeface="Segoe UI"/>
                    <a:rtl val="0"/>
                  </a:rPr>
                  <a:t>Directory Map · Files, Roles &amp; Relationships</a:t>
                </a:r>
              </a:p>
            </p:txBody>
          </p:sp>
        </p:grpSp>
        <p:grpSp>
          <p:nvGrpSpPr>
            <p:cNvPr id="12" name="Graphic 4">
              <a:extLst>
                <a:ext uri="{FF2B5EF4-FFF2-40B4-BE49-F238E27FC236}">
                  <a16:creationId xmlns:a16="http://schemas.microsoft.com/office/drawing/2014/main" id="{12EE431C-E2A9-06E4-11BE-F2FDD36B9FB2}"/>
                </a:ext>
              </a:extLst>
            </p:cNvPr>
            <p:cNvGrpSpPr/>
            <p:nvPr/>
          </p:nvGrpSpPr>
          <p:grpSpPr>
            <a:xfrm>
              <a:off x="707570" y="601824"/>
              <a:ext cx="1245636" cy="6060232"/>
              <a:chOff x="707570" y="601824"/>
              <a:chExt cx="1245636" cy="606023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7ECE12B-51AB-3552-E1F8-91D3A0EA0563}"/>
                  </a:ext>
                </a:extLst>
              </p:cNvPr>
              <p:cNvSpPr/>
              <p:nvPr/>
            </p:nvSpPr>
            <p:spPr>
              <a:xfrm>
                <a:off x="707570" y="601824"/>
                <a:ext cx="1245636" cy="1049693"/>
              </a:xfrm>
              <a:prstGeom prst="rect">
                <a:avLst/>
              </a:prstGeom>
              <a:solidFill>
                <a:srgbClr val="059669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833CD0-2494-C1EA-EABC-DB15A53A111D}"/>
                  </a:ext>
                </a:extLst>
              </p:cNvPr>
              <p:cNvSpPr txBox="1"/>
              <p:nvPr/>
            </p:nvSpPr>
            <p:spPr>
              <a:xfrm>
                <a:off x="1083258" y="1025323"/>
                <a:ext cx="494261" cy="203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>
                    <a:ln/>
                    <a:solidFill>
                      <a:srgbClr val="FFFFFF"/>
                    </a:solidFill>
                    <a:latin typeface="Segoe UI"/>
                    <a:cs typeface="Segoe UI"/>
                    <a:sym typeface="Segoe UI"/>
                    <a:rtl val="0"/>
                  </a:rPr>
                  <a:t>CONFIG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B1D640B-4E89-A5A2-3571-1332518F3AB9}"/>
                  </a:ext>
                </a:extLst>
              </p:cNvPr>
              <p:cNvSpPr/>
              <p:nvPr/>
            </p:nvSpPr>
            <p:spPr>
              <a:xfrm>
                <a:off x="707570" y="1735493"/>
                <a:ext cx="1245636" cy="1539551"/>
              </a:xfrm>
              <a:prstGeom prst="rect">
                <a:avLst/>
              </a:prstGeom>
              <a:solidFill>
                <a:srgbClr val="1E40AF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BA26BE-F2C4-7448-BB9F-524D74F9EAC5}"/>
                  </a:ext>
                </a:extLst>
              </p:cNvPr>
              <p:cNvSpPr txBox="1"/>
              <p:nvPr/>
            </p:nvSpPr>
            <p:spPr>
              <a:xfrm>
                <a:off x="872704" y="2368931"/>
                <a:ext cx="915369" cy="203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>
                    <a:ln/>
                    <a:solidFill>
                      <a:srgbClr val="FFFFFF"/>
                    </a:solidFill>
                    <a:latin typeface="Segoe UI"/>
                    <a:cs typeface="Segoe UI"/>
                    <a:sym typeface="Segoe UI"/>
                    <a:rtl val="0"/>
                  </a:rPr>
                  <a:t>DOCUMENTATION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EC0F42F-9F50-4554-6681-4D72ABC3932C}"/>
                  </a:ext>
                </a:extLst>
              </p:cNvPr>
              <p:cNvSpPr/>
              <p:nvPr/>
            </p:nvSpPr>
            <p:spPr>
              <a:xfrm>
                <a:off x="707570" y="3359020"/>
                <a:ext cx="1245636" cy="1329612"/>
              </a:xfrm>
              <a:prstGeom prst="rect">
                <a:avLst/>
              </a:prstGeom>
              <a:solidFill>
                <a:srgbClr val="6D28D9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AFCB5B1-1963-4C8F-F8A5-7C2AB2AA0E31}"/>
                  </a:ext>
                </a:extLst>
              </p:cNvPr>
              <p:cNvSpPr txBox="1"/>
              <p:nvPr/>
            </p:nvSpPr>
            <p:spPr>
              <a:xfrm>
                <a:off x="988990" y="3887488"/>
                <a:ext cx="682796" cy="203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>
                    <a:ln/>
                    <a:solidFill>
                      <a:srgbClr val="FFFFFF"/>
                    </a:solidFill>
                    <a:latin typeface="Segoe UI"/>
                    <a:cs typeface="Segoe UI"/>
                    <a:sym typeface="Segoe UI"/>
                    <a:rtl val="0"/>
                  </a:rPr>
                  <a:t>VALIDATION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685AE3F-2C3D-3FBF-E5CE-4DCC1A3795F5}"/>
                  </a:ext>
                </a:extLst>
              </p:cNvPr>
              <p:cNvSpPr/>
              <p:nvPr/>
            </p:nvSpPr>
            <p:spPr>
              <a:xfrm>
                <a:off x="707570" y="4772608"/>
                <a:ext cx="1245636" cy="979714"/>
              </a:xfrm>
              <a:prstGeom prst="rect">
                <a:avLst/>
              </a:prstGeom>
              <a:solidFill>
                <a:srgbClr val="B45309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988DBA-F5F8-B851-5263-E04258635863}"/>
                  </a:ext>
                </a:extLst>
              </p:cNvPr>
              <p:cNvSpPr txBox="1"/>
              <p:nvPr/>
            </p:nvSpPr>
            <p:spPr>
              <a:xfrm>
                <a:off x="854498" y="5126127"/>
                <a:ext cx="951780" cy="203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>
                    <a:ln/>
                    <a:solidFill>
                      <a:srgbClr val="FFFFFF"/>
                    </a:solidFill>
                    <a:latin typeface="Segoe UI"/>
                    <a:cs typeface="Segoe UI"/>
                    <a:sym typeface="Segoe UI"/>
                    <a:rtl val="0"/>
                  </a:rPr>
                  <a:t>REFERENCE ASSETS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2808C2-31AD-9CDA-5CEB-A8F19D5D9731}"/>
                  </a:ext>
                </a:extLst>
              </p:cNvPr>
              <p:cNvSpPr/>
              <p:nvPr/>
            </p:nvSpPr>
            <p:spPr>
              <a:xfrm>
                <a:off x="707570" y="5836297"/>
                <a:ext cx="1245636" cy="825759"/>
              </a:xfrm>
              <a:prstGeom prst="rect">
                <a:avLst/>
              </a:prstGeom>
              <a:solidFill>
                <a:srgbClr val="0E7490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947D122-B989-32E8-1BE5-F9E8C5E2B8E0}"/>
                  </a:ext>
                </a:extLst>
              </p:cNvPr>
              <p:cNvSpPr txBox="1"/>
              <p:nvPr/>
            </p:nvSpPr>
            <p:spPr>
              <a:xfrm>
                <a:off x="987432" y="6112839"/>
                <a:ext cx="685913" cy="203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>
                    <a:ln/>
                    <a:solidFill>
                      <a:srgbClr val="FFFFFF"/>
                    </a:solidFill>
                    <a:latin typeface="Segoe UI"/>
                    <a:cs typeface="Segoe UI"/>
                    <a:sym typeface="Segoe UI"/>
                    <a:rtl val="0"/>
                  </a:rPr>
                  <a:t>AUTHORING</a:t>
                </a:r>
              </a:p>
            </p:txBody>
          </p:sp>
        </p:grp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81665DC8-6B30-21E8-6EB4-B048618BCBAF}"/>
                </a:ext>
              </a:extLst>
            </p:cNvPr>
            <p:cNvGrpSpPr/>
            <p:nvPr/>
          </p:nvGrpSpPr>
          <p:grpSpPr>
            <a:xfrm>
              <a:off x="2093166" y="671804"/>
              <a:ext cx="4898571" cy="909734"/>
              <a:chOff x="2093166" y="671804"/>
              <a:chExt cx="4898571" cy="909734"/>
            </a:xfrm>
          </p:grpSpPr>
          <p:grpSp>
            <p:nvGrpSpPr>
              <p:cNvPr id="24" name="Graphic 4">
                <a:extLst>
                  <a:ext uri="{FF2B5EF4-FFF2-40B4-BE49-F238E27FC236}">
                    <a16:creationId xmlns:a16="http://schemas.microsoft.com/office/drawing/2014/main" id="{19C9A607-68B6-C97F-E5AC-E701FCB35D79}"/>
                  </a:ext>
                </a:extLst>
              </p:cNvPr>
              <p:cNvGrpSpPr/>
              <p:nvPr/>
            </p:nvGrpSpPr>
            <p:grpSpPr>
              <a:xfrm>
                <a:off x="2093166" y="671804"/>
                <a:ext cx="2239347" cy="909734"/>
                <a:chOff x="2093166" y="671804"/>
                <a:chExt cx="2239347" cy="909734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0B7A463B-2BC3-E416-6BE5-8D44AF54EAB0}"/>
                    </a:ext>
                  </a:extLst>
                </p:cNvPr>
                <p:cNvSpPr/>
                <p:nvPr/>
              </p:nvSpPr>
              <p:spPr>
                <a:xfrm>
                  <a:off x="2093166" y="671804"/>
                  <a:ext cx="2239347" cy="909734"/>
                </a:xfrm>
                <a:prstGeom prst="rect">
                  <a:avLst/>
                </a:prstGeom>
                <a:solidFill>
                  <a:srgbClr val="FFFFFF"/>
                </a:solidFill>
                <a:ln w="13990" cap="flat">
                  <a:solidFill>
                    <a:srgbClr val="059669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BDD736A-1B52-8E94-DA2C-5D10B47461E0}"/>
                    </a:ext>
                  </a:extLst>
                </p:cNvPr>
                <p:cNvSpPr/>
                <p:nvPr/>
              </p:nvSpPr>
              <p:spPr>
                <a:xfrm>
                  <a:off x="2093166" y="671804"/>
                  <a:ext cx="2239347" cy="223934"/>
                </a:xfrm>
                <a:prstGeom prst="rect">
                  <a:avLst/>
                </a:prstGeom>
                <a:solidFill>
                  <a:srgbClr val="05966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99B2CD11-7022-925F-9546-4102DDD47E74}"/>
                    </a:ext>
                  </a:extLst>
                </p:cNvPr>
                <p:cNvSpPr/>
                <p:nvPr/>
              </p:nvSpPr>
              <p:spPr>
                <a:xfrm>
                  <a:off x="2093166" y="811763"/>
                  <a:ext cx="2239347" cy="83975"/>
                </a:xfrm>
                <a:prstGeom prst="rect">
                  <a:avLst/>
                </a:prstGeom>
                <a:solidFill>
                  <a:srgbClr val="05966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FE3D026-B18F-2773-D6DD-33508BA18BDC}"/>
                    </a:ext>
                  </a:extLst>
                </p:cNvPr>
                <p:cNvSpPr txBox="1"/>
                <p:nvPr/>
              </p:nvSpPr>
              <p:spPr>
                <a:xfrm>
                  <a:off x="2555881" y="674871"/>
                  <a:ext cx="1313918" cy="212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75" b="1" spc="0" baseline="0">
                      <a:ln/>
                      <a:solidFill>
                        <a:srgbClr val="FFFFFF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.claude-plugin/plugin.json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DE5DB31-4E00-962F-5E34-DE89030D00A5}"/>
                    </a:ext>
                  </a:extLst>
                </p:cNvPr>
                <p:cNvSpPr txBox="1"/>
                <p:nvPr/>
              </p:nvSpPr>
              <p:spPr>
                <a:xfrm>
                  <a:off x="2819146" y="899913"/>
                  <a:ext cx="787386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 Emoji"/>
                      <a:ea typeface="Segoe UI Emoji"/>
                      <a:sym typeface="Segoe UI Emoji"/>
                      <a:rtl val="0"/>
                    </a:rPr>
                    <a:t>🔌</a:t>
                  </a:r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"/>
                      <a:ea typeface="Segoe UI Emoji"/>
                      <a:cs typeface="Segoe UI"/>
                      <a:sym typeface="Segoe UI"/>
                      <a:rtl val="0"/>
                    </a:rPr>
                    <a:t> Skill metadata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764D1E0-8C43-24A4-C0A7-80A164C43BF7}"/>
                    </a:ext>
                  </a:extLst>
                </p:cNvPr>
                <p:cNvSpPr txBox="1"/>
                <p:nvPr/>
              </p:nvSpPr>
              <p:spPr>
                <a:xfrm>
                  <a:off x="2141685" y="1060866"/>
                  <a:ext cx="1428465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name, description, version, keywords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1C1211A-C272-6AFB-8722-A64699C5FB5A}"/>
                    </a:ext>
                  </a:extLst>
                </p:cNvPr>
                <p:cNvSpPr txBox="1"/>
                <p:nvPr/>
              </p:nvSpPr>
              <p:spPr>
                <a:xfrm>
                  <a:off x="2141685" y="1186829"/>
                  <a:ext cx="1272668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Enables Claude plugin discovery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278EB1B-1782-8BED-E0CB-510015624E33}"/>
                    </a:ext>
                  </a:extLst>
                </p:cNvPr>
                <p:cNvSpPr txBox="1"/>
                <p:nvPr/>
              </p:nvSpPr>
              <p:spPr>
                <a:xfrm>
                  <a:off x="2141685" y="1312792"/>
                  <a:ext cx="1313562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Follows standard skill pack layout</a:t>
                  </a:r>
                </a:p>
              </p:txBody>
            </p:sp>
          </p:grpSp>
          <p:grpSp>
            <p:nvGrpSpPr>
              <p:cNvPr id="33" name="Graphic 4">
                <a:extLst>
                  <a:ext uri="{FF2B5EF4-FFF2-40B4-BE49-F238E27FC236}">
                    <a16:creationId xmlns:a16="http://schemas.microsoft.com/office/drawing/2014/main" id="{9C2C5B26-2FED-D26A-258E-44F04BEF5B9B}"/>
                  </a:ext>
                </a:extLst>
              </p:cNvPr>
              <p:cNvGrpSpPr/>
              <p:nvPr/>
            </p:nvGrpSpPr>
            <p:grpSpPr>
              <a:xfrm>
                <a:off x="4752391" y="671804"/>
                <a:ext cx="2239347" cy="909734"/>
                <a:chOff x="4752391" y="671804"/>
                <a:chExt cx="2239347" cy="909734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58610342-32A6-7BA1-FE7A-8D6DC86CA056}"/>
                    </a:ext>
                  </a:extLst>
                </p:cNvPr>
                <p:cNvSpPr/>
                <p:nvPr/>
              </p:nvSpPr>
              <p:spPr>
                <a:xfrm>
                  <a:off x="4752391" y="671804"/>
                  <a:ext cx="2239347" cy="909734"/>
                </a:xfrm>
                <a:prstGeom prst="rect">
                  <a:avLst/>
                </a:prstGeom>
                <a:solidFill>
                  <a:srgbClr val="FFFFFF"/>
                </a:solidFill>
                <a:ln w="13990" cap="flat">
                  <a:solidFill>
                    <a:srgbClr val="059669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40734D6-0984-2527-D74A-E8FA2291BCF0}"/>
                    </a:ext>
                  </a:extLst>
                </p:cNvPr>
                <p:cNvSpPr/>
                <p:nvPr/>
              </p:nvSpPr>
              <p:spPr>
                <a:xfrm>
                  <a:off x="4752391" y="671804"/>
                  <a:ext cx="2239347" cy="223934"/>
                </a:xfrm>
                <a:prstGeom prst="rect">
                  <a:avLst/>
                </a:prstGeom>
                <a:solidFill>
                  <a:srgbClr val="05966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25D46B42-7F09-9358-2585-9D325997A51D}"/>
                    </a:ext>
                  </a:extLst>
                </p:cNvPr>
                <p:cNvSpPr/>
                <p:nvPr/>
              </p:nvSpPr>
              <p:spPr>
                <a:xfrm>
                  <a:off x="4752391" y="811763"/>
                  <a:ext cx="2239347" cy="83975"/>
                </a:xfrm>
                <a:prstGeom prst="rect">
                  <a:avLst/>
                </a:prstGeom>
                <a:solidFill>
                  <a:srgbClr val="05966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7C926F27-08AE-670C-2C24-CAC4B3E58178}"/>
                    </a:ext>
                  </a:extLst>
                </p:cNvPr>
                <p:cNvSpPr txBox="1"/>
                <p:nvPr/>
              </p:nvSpPr>
              <p:spPr>
                <a:xfrm>
                  <a:off x="5528959" y="674871"/>
                  <a:ext cx="686210" cy="212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75" b="1" spc="0" baseline="0">
                      <a:ln/>
                      <a:solidFill>
                        <a:srgbClr val="FFFFFF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agency.json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1756242-F1F9-EBD4-6661-42A1786BDB7D}"/>
                    </a:ext>
                  </a:extLst>
                </p:cNvPr>
                <p:cNvSpPr txBox="1"/>
                <p:nvPr/>
              </p:nvSpPr>
              <p:spPr>
                <a:xfrm>
                  <a:off x="5363957" y="899913"/>
                  <a:ext cx="1016214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 Emoji"/>
                      <a:ea typeface="Segoe UI Emoji"/>
                      <a:sym typeface="Segoe UI Emoji"/>
                      <a:rtl val="0"/>
                    </a:rPr>
                    <a:t>⚙️</a:t>
                  </a:r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"/>
                      <a:ea typeface="Segoe UI Emoji"/>
                      <a:cs typeface="Segoe UI"/>
                      <a:sym typeface="Segoe UI"/>
                      <a:rtl val="0"/>
                    </a:rPr>
                    <a:t> Engine configuration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EC2F41D-B3D1-8DC6-E5AE-8689F80A6063}"/>
                    </a:ext>
                  </a:extLst>
                </p:cNvPr>
                <p:cNvSpPr txBox="1"/>
                <p:nvPr/>
              </p:nvSpPr>
              <p:spPr>
                <a:xfrm>
                  <a:off x="4800910" y="1060866"/>
                  <a:ext cx="921308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category: productivity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D084A0B-E0C5-A98D-473F-27D092B3FE88}"/>
                    </a:ext>
                  </a:extLst>
                </p:cNvPr>
                <p:cNvSpPr txBox="1"/>
                <p:nvPr/>
              </p:nvSpPr>
              <p:spPr>
                <a:xfrm>
                  <a:off x="4800910" y="1186829"/>
                  <a:ext cx="979605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engines: claude, copilot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CFAC18B-0F6E-E7FF-8A1C-3C0128FF52D7}"/>
                    </a:ext>
                  </a:extLst>
                </p:cNvPr>
                <p:cNvSpPr txBox="1"/>
                <p:nvPr/>
              </p:nvSpPr>
              <p:spPr>
                <a:xfrm>
                  <a:off x="4800910" y="1312792"/>
                  <a:ext cx="1272367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Standard Agency Cowork config</a:t>
                  </a:r>
                </a:p>
              </p:txBody>
            </p:sp>
          </p:grpSp>
        </p:grpSp>
        <p:grpSp>
          <p:nvGrpSpPr>
            <p:cNvPr id="42" name="Graphic 4">
              <a:extLst>
                <a:ext uri="{FF2B5EF4-FFF2-40B4-BE49-F238E27FC236}">
                  <a16:creationId xmlns:a16="http://schemas.microsoft.com/office/drawing/2014/main" id="{8FD222CF-9E05-5194-D6AB-F7938F433FC2}"/>
                </a:ext>
              </a:extLst>
            </p:cNvPr>
            <p:cNvGrpSpPr/>
            <p:nvPr/>
          </p:nvGrpSpPr>
          <p:grpSpPr>
            <a:xfrm>
              <a:off x="2093166" y="1805473"/>
              <a:ext cx="4898571" cy="1399591"/>
              <a:chOff x="2093166" y="1805473"/>
              <a:chExt cx="4898571" cy="1399591"/>
            </a:xfrm>
          </p:grpSpPr>
          <p:grpSp>
            <p:nvGrpSpPr>
              <p:cNvPr id="43" name="Graphic 4">
                <a:extLst>
                  <a:ext uri="{FF2B5EF4-FFF2-40B4-BE49-F238E27FC236}">
                    <a16:creationId xmlns:a16="http://schemas.microsoft.com/office/drawing/2014/main" id="{7F6B4A8D-9996-B8D0-8714-AEBBA35A902E}"/>
                  </a:ext>
                </a:extLst>
              </p:cNvPr>
              <p:cNvGrpSpPr/>
              <p:nvPr/>
            </p:nvGrpSpPr>
            <p:grpSpPr>
              <a:xfrm>
                <a:off x="2093166" y="1805473"/>
                <a:ext cx="2239347" cy="1399591"/>
                <a:chOff x="2093166" y="1805473"/>
                <a:chExt cx="2239347" cy="1399591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4875B482-79CD-28B0-AAE2-35A7EEA94216}"/>
                    </a:ext>
                  </a:extLst>
                </p:cNvPr>
                <p:cNvSpPr/>
                <p:nvPr/>
              </p:nvSpPr>
              <p:spPr>
                <a:xfrm>
                  <a:off x="2093166" y="1805473"/>
                  <a:ext cx="2239347" cy="1399591"/>
                </a:xfrm>
                <a:prstGeom prst="rect">
                  <a:avLst/>
                </a:prstGeom>
                <a:solidFill>
                  <a:srgbClr val="FFFFFF"/>
                </a:solidFill>
                <a:ln w="13990" cap="flat">
                  <a:solidFill>
                    <a:srgbClr val="1E40A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BD880A78-F634-12BF-BC5B-07EE09916B95}"/>
                    </a:ext>
                  </a:extLst>
                </p:cNvPr>
                <p:cNvSpPr/>
                <p:nvPr/>
              </p:nvSpPr>
              <p:spPr>
                <a:xfrm>
                  <a:off x="2093166" y="1805473"/>
                  <a:ext cx="2239347" cy="223934"/>
                </a:xfrm>
                <a:prstGeom prst="rect">
                  <a:avLst/>
                </a:prstGeom>
                <a:solidFill>
                  <a:srgbClr val="1E40AF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97ECEF4F-06E7-A692-62C1-21F2F4CC25F7}"/>
                    </a:ext>
                  </a:extLst>
                </p:cNvPr>
                <p:cNvSpPr/>
                <p:nvPr/>
              </p:nvSpPr>
              <p:spPr>
                <a:xfrm>
                  <a:off x="2093166" y="1945432"/>
                  <a:ext cx="2239347" cy="83975"/>
                </a:xfrm>
                <a:prstGeom prst="rect">
                  <a:avLst/>
                </a:prstGeom>
                <a:solidFill>
                  <a:srgbClr val="1E40AF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991B527-EA59-704E-7B6F-85D1DAEE7563}"/>
                    </a:ext>
                  </a:extLst>
                </p:cNvPr>
                <p:cNvSpPr txBox="1"/>
                <p:nvPr/>
              </p:nvSpPr>
              <p:spPr>
                <a:xfrm>
                  <a:off x="2851433" y="1808540"/>
                  <a:ext cx="722812" cy="212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75" b="1" spc="0" baseline="0">
                      <a:ln/>
                      <a:solidFill>
                        <a:srgbClr val="FFFFFF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README.md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F6637C8-5F16-BD20-D58E-3C7C9151D362}"/>
                    </a:ext>
                  </a:extLst>
                </p:cNvPr>
                <p:cNvSpPr txBox="1"/>
                <p:nvPr/>
              </p:nvSpPr>
              <p:spPr>
                <a:xfrm>
                  <a:off x="2784360" y="2033582"/>
                  <a:ext cx="856959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 Emoji"/>
                      <a:ea typeface="Segoe UI Emoji"/>
                      <a:sym typeface="Segoe UI Emoji"/>
                      <a:rtl val="0"/>
                    </a:rPr>
                    <a:t>🚪</a:t>
                  </a:r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"/>
                      <a:ea typeface="Segoe UI Emoji"/>
                      <a:cs typeface="Segoe UI"/>
                      <a:sym typeface="Segoe UI"/>
                      <a:rtl val="0"/>
                    </a:rPr>
                    <a:t> User entry point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B4B511A-F3C6-3321-E6C3-3CFF238EA310}"/>
                    </a:ext>
                  </a:extLst>
                </p:cNvPr>
                <p:cNvSpPr txBox="1"/>
                <p:nvPr/>
              </p:nvSpPr>
              <p:spPr>
                <a:xfrm>
                  <a:off x="2141685" y="2194535"/>
                  <a:ext cx="1065528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Role: Quick-start overview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08CC3CD-9CFE-DECC-0ABC-0013F2A4231D}"/>
                    </a:ext>
                  </a:extLst>
                </p:cNvPr>
                <p:cNvSpPr txBox="1"/>
                <p:nvPr/>
              </p:nvSpPr>
              <p:spPr>
                <a:xfrm>
                  <a:off x="2141685" y="2320499"/>
                  <a:ext cx="1366635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links to SKILL.md (full standards)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62F7442-2B9D-0658-4124-A6B747CF311D}"/>
                    </a:ext>
                  </a:extLst>
                </p:cNvPr>
                <p:cNvSpPr txBox="1"/>
                <p:nvPr/>
              </p:nvSpPr>
              <p:spPr>
                <a:xfrm>
                  <a:off x="2141685" y="2446462"/>
                  <a:ext cx="1208696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links to CHECKLIST.md (QA)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6EE987F-BB26-D831-AB40-E6953EBF36CB}"/>
                    </a:ext>
                  </a:extLst>
                </p:cNvPr>
                <p:cNvSpPr txBox="1"/>
                <p:nvPr/>
              </p:nvSpPr>
              <p:spPr>
                <a:xfrm>
                  <a:off x="2141685" y="2572425"/>
                  <a:ext cx="1351863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links to templates/ &amp; examples/</a:t>
                  </a: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93F688C-5F3A-FCBF-EB4F-1431EF8642DE}"/>
                    </a:ext>
                  </a:extLst>
                </p:cNvPr>
                <p:cNvSpPr txBox="1"/>
                <p:nvPr/>
              </p:nvSpPr>
              <p:spPr>
                <a:xfrm>
                  <a:off x="2141685" y="2698388"/>
                  <a:ext cx="1103678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lists Makefile commands</a:t>
                  </a: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8DDEEF4-13D7-9960-7D4C-71E084E60F06}"/>
                    </a:ext>
                  </a:extLst>
                </p:cNvPr>
                <p:cNvSpPr txBox="1"/>
                <p:nvPr/>
              </p:nvSpPr>
              <p:spPr>
                <a:xfrm>
                  <a:off x="2141685" y="2824352"/>
                  <a:ext cx="1398734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summarises non-negotiable rules</a:t>
                  </a:r>
                </a:p>
              </p:txBody>
            </p:sp>
          </p:grpSp>
          <p:grpSp>
            <p:nvGrpSpPr>
              <p:cNvPr id="55" name="Graphic 4">
                <a:extLst>
                  <a:ext uri="{FF2B5EF4-FFF2-40B4-BE49-F238E27FC236}">
                    <a16:creationId xmlns:a16="http://schemas.microsoft.com/office/drawing/2014/main" id="{F75DF531-F097-9BB1-2B8F-3B1B3046F488}"/>
                  </a:ext>
                </a:extLst>
              </p:cNvPr>
              <p:cNvGrpSpPr/>
              <p:nvPr/>
            </p:nvGrpSpPr>
            <p:grpSpPr>
              <a:xfrm>
                <a:off x="4752391" y="1805473"/>
                <a:ext cx="2239347" cy="1399591"/>
                <a:chOff x="4752391" y="1805473"/>
                <a:chExt cx="2239347" cy="1399591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7690499-50D0-E1F2-3F1A-DB2C3CC6037D}"/>
                    </a:ext>
                  </a:extLst>
                </p:cNvPr>
                <p:cNvSpPr/>
                <p:nvPr/>
              </p:nvSpPr>
              <p:spPr>
                <a:xfrm>
                  <a:off x="4752391" y="1805473"/>
                  <a:ext cx="2239347" cy="1399591"/>
                </a:xfrm>
                <a:prstGeom prst="rect">
                  <a:avLst/>
                </a:prstGeom>
                <a:solidFill>
                  <a:srgbClr val="FFFFFF"/>
                </a:solidFill>
                <a:ln w="13990" cap="flat">
                  <a:solidFill>
                    <a:srgbClr val="1E40A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457DC9C8-3B4A-CB67-C769-30316438A116}"/>
                    </a:ext>
                  </a:extLst>
                </p:cNvPr>
                <p:cNvSpPr/>
                <p:nvPr/>
              </p:nvSpPr>
              <p:spPr>
                <a:xfrm>
                  <a:off x="4752391" y="1805473"/>
                  <a:ext cx="2239347" cy="223934"/>
                </a:xfrm>
                <a:prstGeom prst="rect">
                  <a:avLst/>
                </a:prstGeom>
                <a:solidFill>
                  <a:srgbClr val="1E40AF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3BFC8CE2-B023-5AB5-81A9-084C16818910}"/>
                    </a:ext>
                  </a:extLst>
                </p:cNvPr>
                <p:cNvSpPr/>
                <p:nvPr/>
              </p:nvSpPr>
              <p:spPr>
                <a:xfrm>
                  <a:off x="4752391" y="1945432"/>
                  <a:ext cx="2239347" cy="83975"/>
                </a:xfrm>
                <a:prstGeom prst="rect">
                  <a:avLst/>
                </a:prstGeom>
                <a:solidFill>
                  <a:srgbClr val="1E40AF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3CA69F4-984A-518B-5F5C-E1E4A20827D0}"/>
                    </a:ext>
                  </a:extLst>
                </p:cNvPr>
                <p:cNvSpPr txBox="1"/>
                <p:nvPr/>
              </p:nvSpPr>
              <p:spPr>
                <a:xfrm>
                  <a:off x="5253297" y="1816092"/>
                  <a:ext cx="1237535" cy="2031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b="1" spc="0" baseline="0">
                      <a:ln/>
                      <a:solidFill>
                        <a:srgbClr val="FFFFFF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skills/svg-to-ppt/SKILL.md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76C242E-49DD-98A7-CD75-5A4D0BAA5063}"/>
                    </a:ext>
                  </a:extLst>
                </p:cNvPr>
                <p:cNvSpPr txBox="1"/>
                <p:nvPr/>
              </p:nvSpPr>
              <p:spPr>
                <a:xfrm>
                  <a:off x="4937447" y="2025630"/>
                  <a:ext cx="1567085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 dirty="0">
                      <a:ln/>
                      <a:solidFill>
                        <a:srgbClr val="374151"/>
                      </a:solidFill>
                      <a:latin typeface="Segoe UI Emoji"/>
                      <a:ea typeface="Segoe UI Emoji"/>
                      <a:sym typeface="Segoe UI Emoji"/>
                      <a:rtl val="0"/>
                    </a:rPr>
                    <a:t>📋</a:t>
                  </a:r>
                  <a:r>
                    <a:rPr lang="en-US" sz="825" spc="0" baseline="0" dirty="0">
                      <a:ln/>
                      <a:solidFill>
                        <a:srgbClr val="374151"/>
                      </a:solidFill>
                      <a:latin typeface="Segoe UI"/>
                      <a:ea typeface="Segoe UI Emoji"/>
                      <a:cs typeface="Segoe UI"/>
                      <a:sym typeface="Segoe UI"/>
                      <a:rtl val="0"/>
                    </a:rPr>
                    <a:t> Source of truth (standards + prompt)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8B773C9-7E62-15DA-9F3D-A8A334D6A122}"/>
                    </a:ext>
                  </a:extLst>
                </p:cNvPr>
                <p:cNvSpPr txBox="1"/>
                <p:nvPr/>
              </p:nvSpPr>
              <p:spPr>
                <a:xfrm>
                  <a:off x="4800910" y="2194535"/>
                  <a:ext cx="1432712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Role: Authoritative rules + AI prompt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2EE78DA9-33D4-EA2F-006A-8373A3840A06}"/>
                    </a:ext>
                  </a:extLst>
                </p:cNvPr>
                <p:cNvSpPr txBox="1"/>
                <p:nvPr/>
              </p:nvSpPr>
              <p:spPr>
                <a:xfrm>
                  <a:off x="4800910" y="2320499"/>
                  <a:ext cx="1529085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workflow (define→lay→connect→QA)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AA29FA1-27AF-98CF-11A7-6A05649F505D}"/>
                    </a:ext>
                  </a:extLst>
                </p:cNvPr>
                <p:cNvSpPr txBox="1"/>
                <p:nvPr/>
              </p:nvSpPr>
              <p:spPr>
                <a:xfrm>
                  <a:off x="4800910" y="2446462"/>
                  <a:ext cx="1421173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mandatory constraints (primitives,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B374E05-E8D2-2123-8575-CCB7E1F4F862}"/>
                    </a:ext>
                  </a:extLst>
                </p:cNvPr>
                <p:cNvSpPr txBox="1"/>
                <p:nvPr/>
              </p:nvSpPr>
              <p:spPr>
                <a:xfrm>
                  <a:off x="4800910" y="2558429"/>
                  <a:ext cx="1212793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absolute coords, inline styling)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D092544-2A6E-D6CA-CD19-99DD3D7AF7BC}"/>
                    </a:ext>
                  </a:extLst>
                </p:cNvPr>
                <p:cNvSpPr txBox="1"/>
                <p:nvPr/>
              </p:nvSpPr>
              <p:spPr>
                <a:xfrm>
                  <a:off x="4800910" y="2684392"/>
                  <a:ext cx="1262482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input format, output contract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FDD48F38-7942-8E48-DD24-7C1717954D6B}"/>
                    </a:ext>
                  </a:extLst>
                </p:cNvPr>
                <p:cNvSpPr txBox="1"/>
                <p:nvPr/>
              </p:nvSpPr>
              <p:spPr>
                <a:xfrm>
                  <a:off x="4800910" y="2810356"/>
                  <a:ext cx="1516230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reference code example + self-check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C7A2F69-7054-BA03-687A-3267FB67310D}"/>
                    </a:ext>
                  </a:extLst>
                </p:cNvPr>
                <p:cNvSpPr txBox="1"/>
                <p:nvPr/>
              </p:nvSpPr>
              <p:spPr>
                <a:xfrm>
                  <a:off x="4800910" y="2936319"/>
                  <a:ext cx="1341565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Convert-to-Shape workarounds</a:t>
                  </a:r>
                </a:p>
              </p:txBody>
            </p:sp>
          </p:grpSp>
        </p:grpSp>
        <p:grpSp>
          <p:nvGrpSpPr>
            <p:cNvPr id="68" name="Graphic 4">
              <a:extLst>
                <a:ext uri="{FF2B5EF4-FFF2-40B4-BE49-F238E27FC236}">
                  <a16:creationId xmlns:a16="http://schemas.microsoft.com/office/drawing/2014/main" id="{E6A23A64-746F-E626-51CE-E29DE0ECD37C}"/>
                </a:ext>
              </a:extLst>
            </p:cNvPr>
            <p:cNvGrpSpPr/>
            <p:nvPr/>
          </p:nvGrpSpPr>
          <p:grpSpPr>
            <a:xfrm>
              <a:off x="2093166" y="3429000"/>
              <a:ext cx="4898571" cy="1189653"/>
              <a:chOff x="2093166" y="3429000"/>
              <a:chExt cx="4898571" cy="1189653"/>
            </a:xfrm>
          </p:grpSpPr>
          <p:grpSp>
            <p:nvGrpSpPr>
              <p:cNvPr id="69" name="Graphic 4">
                <a:extLst>
                  <a:ext uri="{FF2B5EF4-FFF2-40B4-BE49-F238E27FC236}">
                    <a16:creationId xmlns:a16="http://schemas.microsoft.com/office/drawing/2014/main" id="{5FB0B4EA-ACDD-3D84-AB7E-1EF866180D70}"/>
                  </a:ext>
                </a:extLst>
              </p:cNvPr>
              <p:cNvGrpSpPr/>
              <p:nvPr/>
            </p:nvGrpSpPr>
            <p:grpSpPr>
              <a:xfrm>
                <a:off x="2093166" y="3429000"/>
                <a:ext cx="2239347" cy="1189653"/>
                <a:chOff x="2093166" y="3429000"/>
                <a:chExt cx="2239347" cy="1189653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E7DF41C3-BA8F-B396-EB4C-4216D98038DF}"/>
                    </a:ext>
                  </a:extLst>
                </p:cNvPr>
                <p:cNvSpPr/>
                <p:nvPr/>
              </p:nvSpPr>
              <p:spPr>
                <a:xfrm>
                  <a:off x="2093166" y="3429000"/>
                  <a:ext cx="2239347" cy="1189653"/>
                </a:xfrm>
                <a:prstGeom prst="rect">
                  <a:avLst/>
                </a:prstGeom>
                <a:solidFill>
                  <a:srgbClr val="FFFFFF"/>
                </a:solidFill>
                <a:ln w="13990" cap="flat">
                  <a:solidFill>
                    <a:srgbClr val="6D28D9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85E5DFC-4B4F-30D1-9EE2-A219AA282AF8}"/>
                    </a:ext>
                  </a:extLst>
                </p:cNvPr>
                <p:cNvSpPr/>
                <p:nvPr/>
              </p:nvSpPr>
              <p:spPr>
                <a:xfrm>
                  <a:off x="2093166" y="3429000"/>
                  <a:ext cx="2239347" cy="223934"/>
                </a:xfrm>
                <a:prstGeom prst="rect">
                  <a:avLst/>
                </a:prstGeom>
                <a:solidFill>
                  <a:srgbClr val="6D28D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3A37330-2E6C-B284-1ABE-F9EF3EB10475}"/>
                    </a:ext>
                  </a:extLst>
                </p:cNvPr>
                <p:cNvSpPr/>
                <p:nvPr/>
              </p:nvSpPr>
              <p:spPr>
                <a:xfrm>
                  <a:off x="2093166" y="3568959"/>
                  <a:ext cx="2239347" cy="83975"/>
                </a:xfrm>
                <a:prstGeom prst="rect">
                  <a:avLst/>
                </a:prstGeom>
                <a:solidFill>
                  <a:srgbClr val="6D28D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5E58ADB-32D5-29B4-6A12-C9F250F25C35}"/>
                    </a:ext>
                  </a:extLst>
                </p:cNvPr>
                <p:cNvSpPr txBox="1"/>
                <p:nvPr/>
              </p:nvSpPr>
              <p:spPr>
                <a:xfrm>
                  <a:off x="2804081" y="3432067"/>
                  <a:ext cx="817517" cy="212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75" b="1" spc="0" baseline="0">
                      <a:ln/>
                      <a:solidFill>
                        <a:srgbClr val="FFFFFF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CHECKLIST.md</a:t>
                  </a: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C7DF3297-908D-23B2-1350-880262056842}"/>
                    </a:ext>
                  </a:extLst>
                </p:cNvPr>
                <p:cNvSpPr txBox="1"/>
                <p:nvPr/>
              </p:nvSpPr>
              <p:spPr>
                <a:xfrm>
                  <a:off x="2712795" y="3657109"/>
                  <a:ext cx="1000089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 Emoji"/>
                      <a:ea typeface="Segoe UI Emoji"/>
                      <a:sym typeface="Segoe UI Emoji"/>
                      <a:rtl val="0"/>
                    </a:rPr>
                    <a:t>✅</a:t>
                  </a:r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"/>
                      <a:ea typeface="Segoe UI Emoji"/>
                      <a:cs typeface="Segoe UI"/>
                      <a:sym typeface="Segoe UI"/>
                      <a:rtl val="0"/>
                    </a:rPr>
                    <a:t> Manual QA checklist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C565C0B-A1EE-673A-C751-C65B71FA44A1}"/>
                    </a:ext>
                  </a:extLst>
                </p:cNvPr>
                <p:cNvSpPr txBox="1"/>
                <p:nvPr/>
              </p:nvSpPr>
              <p:spPr>
                <a:xfrm>
                  <a:off x="2141685" y="3818062"/>
                  <a:ext cx="1176258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Role: Pre-conversion QA gate</a:t>
                  </a:r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840B3B0-D1E8-56E2-8614-F9276CF2479E}"/>
                    </a:ext>
                  </a:extLst>
                </p:cNvPr>
                <p:cNvSpPr txBox="1"/>
                <p:nvPr/>
              </p:nvSpPr>
              <p:spPr>
                <a:xfrm>
                  <a:off x="2141685" y="3944025"/>
                  <a:ext cx="1183663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Sections: A) Authoring B) Text</a:t>
                  </a: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220DC3F4-6138-372A-DA38-6DB701404AE1}"/>
                    </a:ext>
                  </a:extLst>
                </p:cNvPr>
                <p:cNvSpPr txBox="1"/>
                <p:nvPr/>
              </p:nvSpPr>
              <p:spPr>
                <a:xfrm>
                  <a:off x="2141685" y="4069988"/>
                  <a:ext cx="1019860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C) Conversion D) Publish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2C26480D-0181-1C49-C373-CE8C51C0AACD}"/>
                    </a:ext>
                  </a:extLst>
                </p:cNvPr>
                <p:cNvSpPr txBox="1"/>
                <p:nvPr/>
              </p:nvSpPr>
              <p:spPr>
                <a:xfrm>
                  <a:off x="2141685" y="4195952"/>
                  <a:ext cx="1434065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E) Right-edge &amp; overflow safeguards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749C5DD-4422-497C-ECD5-EA3EF31CE900}"/>
                    </a:ext>
                  </a:extLst>
                </p:cNvPr>
                <p:cNvSpPr txBox="1"/>
                <p:nvPr/>
              </p:nvSpPr>
              <p:spPr>
                <a:xfrm>
                  <a:off x="2141685" y="4321915"/>
                  <a:ext cx="925593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cross-refs SKILL.md</a:t>
                  </a:r>
                </a:p>
              </p:txBody>
            </p:sp>
          </p:grpSp>
          <p:grpSp>
            <p:nvGrpSpPr>
              <p:cNvPr id="80" name="Graphic 4">
                <a:extLst>
                  <a:ext uri="{FF2B5EF4-FFF2-40B4-BE49-F238E27FC236}">
                    <a16:creationId xmlns:a16="http://schemas.microsoft.com/office/drawing/2014/main" id="{D405CB10-A79A-9E48-29A6-C4668D131B5B}"/>
                  </a:ext>
                </a:extLst>
              </p:cNvPr>
              <p:cNvGrpSpPr/>
              <p:nvPr/>
            </p:nvGrpSpPr>
            <p:grpSpPr>
              <a:xfrm>
                <a:off x="4752391" y="3429000"/>
                <a:ext cx="2239347" cy="1189653"/>
                <a:chOff x="4752391" y="3429000"/>
                <a:chExt cx="2239347" cy="1189653"/>
              </a:xfrm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2E177133-BFF3-2C8F-9254-3E9DB1275545}"/>
                    </a:ext>
                  </a:extLst>
                </p:cNvPr>
                <p:cNvSpPr/>
                <p:nvPr/>
              </p:nvSpPr>
              <p:spPr>
                <a:xfrm>
                  <a:off x="4752391" y="3429000"/>
                  <a:ext cx="2239347" cy="1189653"/>
                </a:xfrm>
                <a:prstGeom prst="rect">
                  <a:avLst/>
                </a:prstGeom>
                <a:solidFill>
                  <a:srgbClr val="FFFFFF"/>
                </a:solidFill>
                <a:ln w="13990" cap="flat">
                  <a:solidFill>
                    <a:srgbClr val="6D28D9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EB3957E3-CB11-92DF-A30A-237165292C53}"/>
                    </a:ext>
                  </a:extLst>
                </p:cNvPr>
                <p:cNvSpPr/>
                <p:nvPr/>
              </p:nvSpPr>
              <p:spPr>
                <a:xfrm>
                  <a:off x="4752391" y="3429000"/>
                  <a:ext cx="2239347" cy="223934"/>
                </a:xfrm>
                <a:prstGeom prst="rect">
                  <a:avLst/>
                </a:prstGeom>
                <a:solidFill>
                  <a:srgbClr val="6D28D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55EB954E-23B3-88BC-6E47-85B2128DED99}"/>
                    </a:ext>
                  </a:extLst>
                </p:cNvPr>
                <p:cNvSpPr/>
                <p:nvPr/>
              </p:nvSpPr>
              <p:spPr>
                <a:xfrm>
                  <a:off x="4752391" y="3568959"/>
                  <a:ext cx="2239347" cy="83975"/>
                </a:xfrm>
                <a:prstGeom prst="rect">
                  <a:avLst/>
                </a:prstGeom>
                <a:solidFill>
                  <a:srgbClr val="6D28D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CDA9501-E6E2-A62A-68CC-E0C68FFB2A67}"/>
                    </a:ext>
                  </a:extLst>
                </p:cNvPr>
                <p:cNvSpPr txBox="1"/>
                <p:nvPr/>
              </p:nvSpPr>
              <p:spPr>
                <a:xfrm>
                  <a:off x="5595324" y="3432067"/>
                  <a:ext cx="553481" cy="212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75" b="1" spc="0" baseline="0">
                      <a:ln/>
                      <a:solidFill>
                        <a:srgbClr val="FFFFFF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Makefile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A139E2C-6FA8-7757-8C3C-C3F3749D1CD2}"/>
                    </a:ext>
                  </a:extLst>
                </p:cNvPr>
                <p:cNvSpPr txBox="1"/>
                <p:nvPr/>
              </p:nvSpPr>
              <p:spPr>
                <a:xfrm>
                  <a:off x="5218534" y="3657109"/>
                  <a:ext cx="1307060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 Emoji"/>
                      <a:ea typeface="Segoe UI Emoji"/>
                      <a:sym typeface="Segoe UI Emoji"/>
                      <a:rtl val="0"/>
                    </a:rPr>
                    <a:t>⚙️</a:t>
                  </a:r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"/>
                      <a:ea typeface="Segoe UI Emoji"/>
                      <a:cs typeface="Segoe UI"/>
                      <a:sym typeface="Segoe UI"/>
                      <a:rtl val="0"/>
                    </a:rPr>
                    <a:t> Automated validation tooling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0520048-C345-0A1B-8426-F5870E9E8F24}"/>
                    </a:ext>
                  </a:extLst>
                </p:cNvPr>
                <p:cNvSpPr txBox="1"/>
                <p:nvPr/>
              </p:nvSpPr>
              <p:spPr>
                <a:xfrm>
                  <a:off x="4800910" y="3818062"/>
                  <a:ext cx="1139498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Targets: validate, check-files,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8E2811F5-FF97-1D24-7819-795171C16AEE}"/>
                    </a:ext>
                  </a:extLst>
                </p:cNvPr>
                <p:cNvSpPr txBox="1"/>
                <p:nvPr/>
              </p:nvSpPr>
              <p:spPr>
                <a:xfrm>
                  <a:off x="4800910" y="3944025"/>
                  <a:ext cx="1199600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check-svg-safety, validate-svg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296D26E-E2D4-0765-BA02-AFC9BE94DB65}"/>
                    </a:ext>
                  </a:extLst>
                </p:cNvPr>
                <p:cNvSpPr txBox="1"/>
                <p:nvPr/>
              </p:nvSpPr>
              <p:spPr>
                <a:xfrm>
                  <a:off x="4800910" y="4069988"/>
                  <a:ext cx="1421511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Rejects: &lt;path&gt;, &lt;marker&gt;, http refs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7BF1CA2-3431-01EC-E839-A0ADEDAD4AFF}"/>
                    </a:ext>
                  </a:extLst>
                </p:cNvPr>
                <p:cNvSpPr txBox="1"/>
                <p:nvPr/>
              </p:nvSpPr>
              <p:spPr>
                <a:xfrm>
                  <a:off x="4800910" y="4195952"/>
                  <a:ext cx="1325891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Checks: font-size ≤ 28, chars ≤ 95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5BEBA4B-C529-693C-3F86-CA6167CE9682}"/>
                    </a:ext>
                  </a:extLst>
                </p:cNvPr>
                <p:cNvSpPr txBox="1"/>
                <p:nvPr/>
              </p:nvSpPr>
              <p:spPr>
                <a:xfrm>
                  <a:off x="4800910" y="4321915"/>
                  <a:ext cx="1424443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runs over templates/ &amp; examples/</a:t>
                  </a:r>
                </a:p>
              </p:txBody>
            </p:sp>
          </p:grpSp>
        </p:grpSp>
        <p:grpSp>
          <p:nvGrpSpPr>
            <p:cNvPr id="91" name="Graphic 4">
              <a:extLst>
                <a:ext uri="{FF2B5EF4-FFF2-40B4-BE49-F238E27FC236}">
                  <a16:creationId xmlns:a16="http://schemas.microsoft.com/office/drawing/2014/main" id="{32AD3AB0-A835-3433-E00D-7D3C0263C0AF}"/>
                </a:ext>
              </a:extLst>
            </p:cNvPr>
            <p:cNvGrpSpPr/>
            <p:nvPr/>
          </p:nvGrpSpPr>
          <p:grpSpPr>
            <a:xfrm>
              <a:off x="2093166" y="4842587"/>
              <a:ext cx="4898571" cy="839755"/>
              <a:chOff x="2093166" y="4842587"/>
              <a:chExt cx="4898571" cy="839755"/>
            </a:xfrm>
          </p:grpSpPr>
          <p:grpSp>
            <p:nvGrpSpPr>
              <p:cNvPr id="92" name="Graphic 4">
                <a:extLst>
                  <a:ext uri="{FF2B5EF4-FFF2-40B4-BE49-F238E27FC236}">
                    <a16:creationId xmlns:a16="http://schemas.microsoft.com/office/drawing/2014/main" id="{C7BD11AB-260E-7285-6EAF-1F625C9A7285}"/>
                  </a:ext>
                </a:extLst>
              </p:cNvPr>
              <p:cNvGrpSpPr/>
              <p:nvPr/>
            </p:nvGrpSpPr>
            <p:grpSpPr>
              <a:xfrm>
                <a:off x="2093166" y="4842587"/>
                <a:ext cx="2239347" cy="839755"/>
                <a:chOff x="2093166" y="4842587"/>
                <a:chExt cx="2239347" cy="839755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C386FA0C-199F-528D-E8C1-BBB5C6209757}"/>
                    </a:ext>
                  </a:extLst>
                </p:cNvPr>
                <p:cNvSpPr/>
                <p:nvPr/>
              </p:nvSpPr>
              <p:spPr>
                <a:xfrm>
                  <a:off x="2093166" y="4842587"/>
                  <a:ext cx="2239347" cy="839755"/>
                </a:xfrm>
                <a:prstGeom prst="rect">
                  <a:avLst/>
                </a:prstGeom>
                <a:solidFill>
                  <a:srgbClr val="FFFFFF"/>
                </a:solidFill>
                <a:ln w="13990" cap="flat">
                  <a:solidFill>
                    <a:srgbClr val="B45309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A0F3480D-E8CE-AA2D-B109-D9461E3C4ABC}"/>
                    </a:ext>
                  </a:extLst>
                </p:cNvPr>
                <p:cNvSpPr/>
                <p:nvPr/>
              </p:nvSpPr>
              <p:spPr>
                <a:xfrm>
                  <a:off x="2093166" y="4842587"/>
                  <a:ext cx="2239347" cy="223934"/>
                </a:xfrm>
                <a:prstGeom prst="rect">
                  <a:avLst/>
                </a:prstGeom>
                <a:solidFill>
                  <a:srgbClr val="B4530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A33619AF-A842-5674-E76F-F257B52B47A8}"/>
                    </a:ext>
                  </a:extLst>
                </p:cNvPr>
                <p:cNvSpPr/>
                <p:nvPr/>
              </p:nvSpPr>
              <p:spPr>
                <a:xfrm>
                  <a:off x="2093166" y="4982546"/>
                  <a:ext cx="2239347" cy="83975"/>
                </a:xfrm>
                <a:prstGeom prst="rect">
                  <a:avLst/>
                </a:prstGeom>
                <a:solidFill>
                  <a:srgbClr val="B4530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6126904-2601-BAB4-CD7A-AF142AC61E13}"/>
                    </a:ext>
                  </a:extLst>
                </p:cNvPr>
                <p:cNvSpPr txBox="1"/>
                <p:nvPr/>
              </p:nvSpPr>
              <p:spPr>
                <a:xfrm>
                  <a:off x="2413285" y="4860758"/>
                  <a:ext cx="1599109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b="1" spc="0" baseline="0">
                      <a:ln/>
                      <a:solidFill>
                        <a:srgbClr val="FFFFFF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examples/api_profile_filtering_flow.svg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CA033AB5-5BD5-CCE9-63D5-FF1BAE1271EC}"/>
                    </a:ext>
                  </a:extLst>
                </p:cNvPr>
                <p:cNvSpPr txBox="1"/>
                <p:nvPr/>
              </p:nvSpPr>
              <p:spPr>
                <a:xfrm>
                  <a:off x="2571506" y="5070697"/>
                  <a:ext cx="1282666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 Emoji"/>
                      <a:ea typeface="Segoe UI Emoji"/>
                      <a:sym typeface="Segoe UI Emoji"/>
                      <a:rtl val="0"/>
                    </a:rPr>
                    <a:t>📌</a:t>
                  </a:r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"/>
                      <a:ea typeface="Segoe UI Emoji"/>
                      <a:cs typeface="Segoe UI"/>
                      <a:sym typeface="Segoe UI"/>
                      <a:rtl val="0"/>
                    </a:rPr>
                    <a:t> Complex real-world example</a:t>
                  </a: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B2A52C6-15F2-4204-92FE-E5BA68BB8759}"/>
                    </a:ext>
                  </a:extLst>
                </p:cNvPr>
                <p:cNvSpPr txBox="1"/>
                <p:nvPr/>
              </p:nvSpPr>
              <p:spPr>
                <a:xfrm>
                  <a:off x="2141685" y="5231650"/>
                  <a:ext cx="1362087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Canvas: 1920×1080 · 4 phase lanes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DB4C8CC3-1A30-DBAB-2BED-052C2AFF0D0C}"/>
                    </a:ext>
                  </a:extLst>
                </p:cNvPr>
                <p:cNvSpPr txBox="1"/>
                <p:nvPr/>
              </p:nvSpPr>
              <p:spPr>
                <a:xfrm>
                  <a:off x="2141685" y="5357613"/>
                  <a:ext cx="1427901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tspan wrapping, cross-lane arrows</a:t>
                  </a:r>
                </a:p>
              </p:txBody>
            </p:sp>
          </p:grpSp>
          <p:grpSp>
            <p:nvGrpSpPr>
              <p:cNvPr id="100" name="Graphic 4">
                <a:extLst>
                  <a:ext uri="{FF2B5EF4-FFF2-40B4-BE49-F238E27FC236}">
                    <a16:creationId xmlns:a16="http://schemas.microsoft.com/office/drawing/2014/main" id="{14D5D74C-4645-53D3-2CB6-7C3BDEB519CB}"/>
                  </a:ext>
                </a:extLst>
              </p:cNvPr>
              <p:cNvGrpSpPr/>
              <p:nvPr/>
            </p:nvGrpSpPr>
            <p:grpSpPr>
              <a:xfrm>
                <a:off x="4752391" y="4842587"/>
                <a:ext cx="2239347" cy="839755"/>
                <a:chOff x="4752391" y="4842587"/>
                <a:chExt cx="2239347" cy="839755"/>
              </a:xfrm>
            </p:grpSpPr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191C1D7A-8102-96F0-71F0-42A4EDF360A0}"/>
                    </a:ext>
                  </a:extLst>
                </p:cNvPr>
                <p:cNvSpPr/>
                <p:nvPr/>
              </p:nvSpPr>
              <p:spPr>
                <a:xfrm>
                  <a:off x="4752391" y="4842587"/>
                  <a:ext cx="2239347" cy="839755"/>
                </a:xfrm>
                <a:prstGeom prst="rect">
                  <a:avLst/>
                </a:prstGeom>
                <a:solidFill>
                  <a:srgbClr val="FFFFFF"/>
                </a:solidFill>
                <a:ln w="13990" cap="flat">
                  <a:solidFill>
                    <a:srgbClr val="B45309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5F448F51-D876-C257-3112-F89C284A70F2}"/>
                    </a:ext>
                  </a:extLst>
                </p:cNvPr>
                <p:cNvSpPr/>
                <p:nvPr/>
              </p:nvSpPr>
              <p:spPr>
                <a:xfrm>
                  <a:off x="4752391" y="4842587"/>
                  <a:ext cx="2239347" cy="223934"/>
                </a:xfrm>
                <a:prstGeom prst="rect">
                  <a:avLst/>
                </a:prstGeom>
                <a:solidFill>
                  <a:srgbClr val="B4530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CCB2D7DE-9770-6C8A-ED44-61AF3803BC6B}"/>
                    </a:ext>
                  </a:extLst>
                </p:cNvPr>
                <p:cNvSpPr/>
                <p:nvPr/>
              </p:nvSpPr>
              <p:spPr>
                <a:xfrm>
                  <a:off x="4752391" y="4982546"/>
                  <a:ext cx="2239347" cy="83975"/>
                </a:xfrm>
                <a:prstGeom prst="rect">
                  <a:avLst/>
                </a:prstGeom>
                <a:solidFill>
                  <a:srgbClr val="B4530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4883CB5-7C36-5F45-768B-76026DAFA216}"/>
                    </a:ext>
                  </a:extLst>
                </p:cNvPr>
                <p:cNvSpPr txBox="1"/>
                <p:nvPr/>
              </p:nvSpPr>
              <p:spPr>
                <a:xfrm>
                  <a:off x="5139245" y="4853206"/>
                  <a:ext cx="1465638" cy="2031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900" b="1" spc="0" baseline="0">
                      <a:ln/>
                      <a:solidFill>
                        <a:srgbClr val="FFFFFF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templates/ppt_shape_starter.svg</a:t>
                  </a: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8D38F586-47E2-BD6D-D902-FDEAC2168E6B}"/>
                    </a:ext>
                  </a:extLst>
                </p:cNvPr>
                <p:cNvSpPr txBox="1"/>
                <p:nvPr/>
              </p:nvSpPr>
              <p:spPr>
                <a:xfrm>
                  <a:off x="5393989" y="5070697"/>
                  <a:ext cx="956151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 Symbol"/>
                      <a:ea typeface="Segoe UI Symbol"/>
                      <a:sym typeface="Segoe UI Symbol"/>
                      <a:rtl val="0"/>
                    </a:rPr>
                    <a:t>🗂</a:t>
                  </a:r>
                  <a:r>
                    <a:rPr lang="en-US" sz="825" spc="0" baseline="0">
                      <a:ln/>
                      <a:solidFill>
                        <a:srgbClr val="374151"/>
                      </a:solidFill>
                      <a:latin typeface="Segoe UI"/>
                      <a:ea typeface="Segoe UI Symbol"/>
                      <a:cs typeface="Segoe UI"/>
                      <a:sym typeface="Segoe UI"/>
                      <a:rtl val="0"/>
                    </a:rPr>
                    <a:t> Copy-paste scaffold</a:t>
                  </a: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A513A65-29EA-C8C0-BA33-FB55D24D1ADD}"/>
                    </a:ext>
                  </a:extLst>
                </p:cNvPr>
                <p:cNvSpPr txBox="1"/>
                <p:nvPr/>
              </p:nvSpPr>
              <p:spPr>
                <a:xfrm>
                  <a:off x="4800910" y="5231650"/>
                  <a:ext cx="1346188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Canvas: 1600×900 · layer structure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3551E934-11D3-9875-9724-CF48D8493691}"/>
                    </a:ext>
                  </a:extLst>
                </p:cNvPr>
                <p:cNvSpPr txBox="1"/>
                <p:nvPr/>
              </p:nvSpPr>
              <p:spPr>
                <a:xfrm>
                  <a:off x="4800910" y="5357613"/>
                  <a:ext cx="1540699" cy="193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825" spc="0" baseline="0">
                      <a:ln/>
                      <a:solidFill>
                        <a:srgbClr val="6B7280"/>
                      </a:solidFill>
                      <a:latin typeface="Segoe UI"/>
                      <a:cs typeface="Segoe UI"/>
                      <a:sym typeface="Segoe UI"/>
                      <a:rtl val="0"/>
                    </a:rPr>
                    <a:t>→ atomic arrow groups, tspan wrapping</a:t>
                  </a:r>
                </a:p>
              </p:txBody>
            </p:sp>
          </p:grpSp>
        </p:grpSp>
        <p:grpSp>
          <p:nvGrpSpPr>
            <p:cNvPr id="108" name="Graphic 4">
              <a:extLst>
                <a:ext uri="{FF2B5EF4-FFF2-40B4-BE49-F238E27FC236}">
                  <a16:creationId xmlns:a16="http://schemas.microsoft.com/office/drawing/2014/main" id="{9914A210-31EB-4D6B-D896-F86156ED079A}"/>
                </a:ext>
              </a:extLst>
            </p:cNvPr>
            <p:cNvGrpSpPr/>
            <p:nvPr/>
          </p:nvGrpSpPr>
          <p:grpSpPr>
            <a:xfrm>
              <a:off x="2093166" y="5906277"/>
              <a:ext cx="4898571" cy="685800"/>
              <a:chOff x="2093166" y="5906277"/>
              <a:chExt cx="4898571" cy="685800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3AE65009-8719-5671-5D74-CF8F59338D01}"/>
                  </a:ext>
                </a:extLst>
              </p:cNvPr>
              <p:cNvSpPr/>
              <p:nvPr/>
            </p:nvSpPr>
            <p:spPr>
              <a:xfrm>
                <a:off x="2093166" y="5906277"/>
                <a:ext cx="4898571" cy="685800"/>
              </a:xfrm>
              <a:prstGeom prst="rect">
                <a:avLst/>
              </a:prstGeom>
              <a:solidFill>
                <a:srgbClr val="FFFFFF"/>
              </a:solidFill>
              <a:ln w="13990" cap="flat">
                <a:solidFill>
                  <a:srgbClr val="0E749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7D7655D-A896-78FD-F856-E2D0915DB842}"/>
                  </a:ext>
                </a:extLst>
              </p:cNvPr>
              <p:cNvSpPr/>
              <p:nvPr/>
            </p:nvSpPr>
            <p:spPr>
              <a:xfrm>
                <a:off x="2093166" y="5906277"/>
                <a:ext cx="4898571" cy="223934"/>
              </a:xfrm>
              <a:prstGeom prst="rect">
                <a:avLst/>
              </a:prstGeom>
              <a:solidFill>
                <a:srgbClr val="0E7490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6DDB2767-35E6-7AFB-019F-B3CD49CCD471}"/>
                  </a:ext>
                </a:extLst>
              </p:cNvPr>
              <p:cNvSpPr/>
              <p:nvPr/>
            </p:nvSpPr>
            <p:spPr>
              <a:xfrm>
                <a:off x="2093166" y="6046236"/>
                <a:ext cx="4898571" cy="83975"/>
              </a:xfrm>
              <a:prstGeom prst="rect">
                <a:avLst/>
              </a:prstGeom>
              <a:solidFill>
                <a:srgbClr val="0E7490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F5C3D51-C429-BAA7-9328-30BDB975C565}"/>
                  </a:ext>
                </a:extLst>
              </p:cNvPr>
              <p:cNvSpPr txBox="1"/>
              <p:nvPr/>
            </p:nvSpPr>
            <p:spPr>
              <a:xfrm>
                <a:off x="3598558" y="5909345"/>
                <a:ext cx="1887788" cy="212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75" b="1" spc="0" baseline="0">
                    <a:ln/>
                    <a:solidFill>
                      <a:srgbClr val="FFFFFF"/>
                    </a:solidFill>
                    <a:latin typeface="Segoe UI"/>
                    <a:cs typeface="Segoe UI"/>
                    <a:sym typeface="Segoe UI"/>
                    <a:rtl val="0"/>
                  </a:rPr>
                  <a:t>examples/svg-to-ppt-map.svg (this file)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90F859A-92DD-8BAF-F9AD-39DE412B9F0E}"/>
                  </a:ext>
                </a:extLst>
              </p:cNvPr>
              <p:cNvSpPr txBox="1"/>
              <p:nvPr/>
            </p:nvSpPr>
            <p:spPr>
              <a:xfrm>
                <a:off x="3166468" y="6134386"/>
                <a:ext cx="2751968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 Symbol"/>
                    <a:ea typeface="Segoe UI Symbol"/>
                    <a:sym typeface="Segoe UI Symbol"/>
                    <a:rtl val="0"/>
                  </a:rPr>
                  <a:t>🗺</a:t>
                </a:r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ea typeface="Segoe UI Symbol"/>
                    <a:cs typeface="Segoe UI"/>
                    <a:sym typeface="Segoe UI"/>
                    <a:rtl val="0"/>
                  </a:rPr>
                  <a:t> Self-referential directory map — demonstrates skill standards in practice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45095C7-1F2A-9C95-1FCD-41AB0416607B}"/>
                  </a:ext>
                </a:extLst>
              </p:cNvPr>
              <p:cNvSpPr txBox="1"/>
              <p:nvPr/>
            </p:nvSpPr>
            <p:spPr>
              <a:xfrm>
                <a:off x="3357258" y="6295339"/>
                <a:ext cx="2370388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6B7280"/>
                    </a:solidFill>
                    <a:latin typeface="Segoe UI"/>
                    <a:cs typeface="Segoe UI"/>
                    <a:sym typeface="Segoe UI"/>
                    <a:rtl val="0"/>
                  </a:rPr>
                  <a:t>Primitives only · atomic arrows · absolute coords · Segoe UI, Arial</a:t>
                </a:r>
              </a:p>
            </p:txBody>
          </p:sp>
        </p:grpSp>
        <p:grpSp>
          <p:nvGrpSpPr>
            <p:cNvPr id="115" name="Graphic 4">
              <a:extLst>
                <a:ext uri="{FF2B5EF4-FFF2-40B4-BE49-F238E27FC236}">
                  <a16:creationId xmlns:a16="http://schemas.microsoft.com/office/drawing/2014/main" id="{2A5B1D29-5857-1AD9-8214-5C3272A680CE}"/>
                </a:ext>
              </a:extLst>
            </p:cNvPr>
            <p:cNvGrpSpPr/>
            <p:nvPr/>
          </p:nvGrpSpPr>
          <p:grpSpPr>
            <a:xfrm>
              <a:off x="7551575" y="601824"/>
              <a:ext cx="3932853" cy="5990253"/>
              <a:chOff x="7551575" y="601824"/>
              <a:chExt cx="3932853" cy="5990253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78B1168A-3A61-97B3-F85C-C10164F09922}"/>
                  </a:ext>
                </a:extLst>
              </p:cNvPr>
              <p:cNvSpPr/>
              <p:nvPr/>
            </p:nvSpPr>
            <p:spPr>
              <a:xfrm>
                <a:off x="7551575" y="601824"/>
                <a:ext cx="3932853" cy="5990253"/>
              </a:xfrm>
              <a:prstGeom prst="rect">
                <a:avLst/>
              </a:prstGeom>
              <a:solidFill>
                <a:srgbClr val="FFFFFF"/>
              </a:solidFill>
              <a:ln w="10492" cap="flat">
                <a:solidFill>
                  <a:srgbClr val="CBD5E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EAC4CDAB-E427-50BA-BB25-15D826FB7019}"/>
                  </a:ext>
                </a:extLst>
              </p:cNvPr>
              <p:cNvSpPr/>
              <p:nvPr/>
            </p:nvSpPr>
            <p:spPr>
              <a:xfrm>
                <a:off x="7551575" y="601824"/>
                <a:ext cx="3932853" cy="265922"/>
              </a:xfrm>
              <a:prstGeom prst="rect">
                <a:avLst/>
              </a:prstGeom>
              <a:solidFill>
                <a:srgbClr val="1E293B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C950EF8B-2BD8-2BE0-4F9E-C4DEF59C63E6}"/>
                  </a:ext>
                </a:extLst>
              </p:cNvPr>
              <p:cNvSpPr/>
              <p:nvPr/>
            </p:nvSpPr>
            <p:spPr>
              <a:xfrm>
                <a:off x="7551575" y="755779"/>
                <a:ext cx="3932853" cy="111967"/>
              </a:xfrm>
              <a:prstGeom prst="rect">
                <a:avLst/>
              </a:prstGeom>
              <a:solidFill>
                <a:srgbClr val="1E293B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CDF3E54-D322-493F-D2B4-5D9214F19C71}"/>
                  </a:ext>
                </a:extLst>
              </p:cNvPr>
              <p:cNvSpPr txBox="1"/>
              <p:nvPr/>
            </p:nvSpPr>
            <p:spPr>
              <a:xfrm>
                <a:off x="8584945" y="639881"/>
                <a:ext cx="1866111" cy="212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75" b="1" spc="0" baseline="0">
                    <a:ln/>
                    <a:solidFill>
                      <a:srgbClr val="F8FAFC"/>
                    </a:solidFill>
                    <a:latin typeface="Segoe UI"/>
                    <a:cs typeface="Segoe UI"/>
                    <a:sym typeface="Segoe UI"/>
                    <a:rtl val="0"/>
                  </a:rPr>
                  <a:t>RELATIONSHIPS &amp; CROSS-REFERENCES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0E8C9AD-C223-727C-BA33-5394E6F8EBC1}"/>
                  </a:ext>
                </a:extLst>
              </p:cNvPr>
              <p:cNvSpPr txBox="1"/>
              <p:nvPr/>
            </p:nvSpPr>
            <p:spPr>
              <a:xfrm>
                <a:off x="7600094" y="913355"/>
                <a:ext cx="932714" cy="203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>
                    <a:ln/>
                    <a:solidFill>
                      <a:srgbClr val="1E293B"/>
                    </a:solidFill>
                    <a:latin typeface="Segoe UI"/>
                    <a:cs typeface="Segoe UI"/>
                    <a:sym typeface="Segoe UI"/>
                    <a:rtl val="0"/>
                  </a:rPr>
                  <a:t>Directory structure</a:t>
                </a: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CE143624-D9E6-4507-DA3F-C684D3963BD4}"/>
                  </a:ext>
                </a:extLst>
              </p:cNvPr>
              <p:cNvSpPr/>
              <p:nvPr/>
            </p:nvSpPr>
            <p:spPr>
              <a:xfrm>
                <a:off x="7691534" y="1084683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3DAFB8B-C036-F503-2350-9292887BA943}"/>
                  </a:ext>
                </a:extLst>
              </p:cNvPr>
              <p:cNvSpPr txBox="1"/>
              <p:nvPr/>
            </p:nvSpPr>
            <p:spPr>
              <a:xfrm>
                <a:off x="7600094" y="1088858"/>
                <a:ext cx="577089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svg-to-ppt/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7A5D0845-744E-7B35-460E-9E98B86FC882}"/>
                  </a:ext>
                </a:extLst>
              </p:cNvPr>
              <p:cNvSpPr txBox="1"/>
              <p:nvPr/>
            </p:nvSpPr>
            <p:spPr>
              <a:xfrm>
                <a:off x="7600094" y="1214821"/>
                <a:ext cx="1069512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6B7280"/>
                    </a:solidFill>
                    <a:latin typeface="Segoe UI"/>
                    <a:cs typeface="Segoe UI"/>
                    <a:sym typeface="Segoe UI"/>
                    <a:rtl val="0"/>
                  </a:rPr>
                  <a:t>.claude-plugin/plugin.json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B9B4D9E-D37C-1F74-DBAE-A7DE9B73EE34}"/>
                  </a:ext>
                </a:extLst>
              </p:cNvPr>
              <p:cNvSpPr txBox="1"/>
              <p:nvPr/>
            </p:nvSpPr>
            <p:spPr>
              <a:xfrm>
                <a:off x="7600094" y="1340784"/>
                <a:ext cx="580660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6B7280"/>
                    </a:solidFill>
                    <a:latin typeface="Segoe UI"/>
                    <a:cs typeface="Segoe UI"/>
                    <a:sym typeface="Segoe UI"/>
                    <a:rtl val="0"/>
                  </a:rPr>
                  <a:t>agency.json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F67D9AB-04C4-EAC9-18F7-457EF69C3BC9}"/>
                  </a:ext>
                </a:extLst>
              </p:cNvPr>
              <p:cNvSpPr txBox="1"/>
              <p:nvPr/>
            </p:nvSpPr>
            <p:spPr>
              <a:xfrm>
                <a:off x="7600094" y="1466748"/>
                <a:ext cx="607872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6B7280"/>
                    </a:solidFill>
                    <a:latin typeface="Segoe UI"/>
                    <a:cs typeface="Segoe UI"/>
                    <a:sym typeface="Segoe UI"/>
                    <a:rtl val="0"/>
                  </a:rPr>
                  <a:t>README.md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472E4C0-A18D-9728-5E39-4F081A4E48A8}"/>
                  </a:ext>
                </a:extLst>
              </p:cNvPr>
              <p:cNvSpPr txBox="1"/>
              <p:nvPr/>
            </p:nvSpPr>
            <p:spPr>
              <a:xfrm>
                <a:off x="7600094" y="1592711"/>
                <a:ext cx="682707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6B7280"/>
                    </a:solidFill>
                    <a:latin typeface="Segoe UI"/>
                    <a:cs typeface="Segoe UI"/>
                    <a:sym typeface="Segoe UI"/>
                    <a:rtl val="0"/>
                  </a:rPr>
                  <a:t>CHECKLIST.md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988B4F8-0A58-6673-4423-5BA5868619CF}"/>
                  </a:ext>
                </a:extLst>
              </p:cNvPr>
              <p:cNvSpPr txBox="1"/>
              <p:nvPr/>
            </p:nvSpPr>
            <p:spPr>
              <a:xfrm>
                <a:off x="7600094" y="1718674"/>
                <a:ext cx="471320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6B7280"/>
                    </a:solidFill>
                    <a:latin typeface="Segoe UI"/>
                    <a:cs typeface="Segoe UI"/>
                    <a:sym typeface="Segoe UI"/>
                    <a:rtl val="0"/>
                  </a:rPr>
                  <a:t>Makefile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96B6CEB-631B-1EF7-B507-183140847049}"/>
                  </a:ext>
                </a:extLst>
              </p:cNvPr>
              <p:cNvSpPr txBox="1"/>
              <p:nvPr/>
            </p:nvSpPr>
            <p:spPr>
              <a:xfrm>
                <a:off x="7600094" y="1844637"/>
                <a:ext cx="1073421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6B7280"/>
                    </a:solidFill>
                    <a:latin typeface="Segoe UI"/>
                    <a:cs typeface="Segoe UI"/>
                    <a:sym typeface="Segoe UI"/>
                    <a:rtl val="0"/>
                  </a:rPr>
                  <a:t>skills/svg-to-ppt/SKILL.md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AF3CD4E-E13F-6515-622C-832183A5DC5C}"/>
                  </a:ext>
                </a:extLst>
              </p:cNvPr>
              <p:cNvSpPr txBox="1"/>
              <p:nvPr/>
            </p:nvSpPr>
            <p:spPr>
              <a:xfrm>
                <a:off x="7600094" y="1970601"/>
                <a:ext cx="1278306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6B7280"/>
                    </a:solidFill>
                    <a:latin typeface="Segoe UI"/>
                    <a:cs typeface="Segoe UI"/>
                    <a:sym typeface="Segoe UI"/>
                    <a:rtl val="0"/>
                  </a:rPr>
                  <a:t>templates/ppt_shape_starter.svg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D5A57A9-2746-3C46-3DB9-077F5CDB5480}"/>
                  </a:ext>
                </a:extLst>
              </p:cNvPr>
              <p:cNvSpPr txBox="1"/>
              <p:nvPr/>
            </p:nvSpPr>
            <p:spPr>
              <a:xfrm>
                <a:off x="7600094" y="2096564"/>
                <a:ext cx="1485446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6B7280"/>
                    </a:solidFill>
                    <a:latin typeface="Segoe UI"/>
                    <a:cs typeface="Segoe UI"/>
                    <a:sym typeface="Segoe UI"/>
                    <a:rtl val="0"/>
                  </a:rPr>
                  <a:t>examples/api_profile_filtering_flow.svg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42A6AF2-CD0C-C17D-4BC6-BA7BB8649D85}"/>
                  </a:ext>
                </a:extLst>
              </p:cNvPr>
              <p:cNvSpPr txBox="1"/>
              <p:nvPr/>
            </p:nvSpPr>
            <p:spPr>
              <a:xfrm>
                <a:off x="7600094" y="2222527"/>
                <a:ext cx="1208019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6B7280"/>
                    </a:solidFill>
                    <a:latin typeface="Segoe UI"/>
                    <a:cs typeface="Segoe UI"/>
                    <a:sym typeface="Segoe UI"/>
                    <a:rtl val="0"/>
                  </a:rPr>
                  <a:t>examples/svg-to-ppt-map.svg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0F57677F-8F1C-5A68-E2EF-7854B068FA29}"/>
                  </a:ext>
                </a:extLst>
              </p:cNvPr>
              <p:cNvSpPr txBox="1"/>
              <p:nvPr/>
            </p:nvSpPr>
            <p:spPr>
              <a:xfrm>
                <a:off x="7600094" y="2438910"/>
                <a:ext cx="871618" cy="203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>
                    <a:ln/>
                    <a:solidFill>
                      <a:srgbClr val="1E293B"/>
                    </a:solidFill>
                    <a:latin typeface="Segoe UI"/>
                    <a:cs typeface="Segoe UI"/>
                    <a:sym typeface="Segoe UI"/>
                    <a:rtl val="0"/>
                  </a:rPr>
                  <a:t>Entry-point chain</a:t>
                </a: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D28EC8FA-F6B1-6852-85C1-7FDE808EBE2B}"/>
                  </a:ext>
                </a:extLst>
              </p:cNvPr>
              <p:cNvSpPr/>
              <p:nvPr/>
            </p:nvSpPr>
            <p:spPr>
              <a:xfrm>
                <a:off x="7691534" y="2610238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D08889D9-C713-8DC2-727D-1213CCB8FA25}"/>
                  </a:ext>
                </a:extLst>
              </p:cNvPr>
              <p:cNvSpPr txBox="1"/>
              <p:nvPr/>
            </p:nvSpPr>
            <p:spPr>
              <a:xfrm>
                <a:off x="7600094" y="2614413"/>
                <a:ext cx="1631696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README.md → SKILL.md → CHECKLIST.md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ED0FC0C-8ABD-7A5C-7D88-6D84E88E3728}"/>
                  </a:ext>
                </a:extLst>
              </p:cNvPr>
              <p:cNvSpPr txBox="1"/>
              <p:nvPr/>
            </p:nvSpPr>
            <p:spPr>
              <a:xfrm>
                <a:off x="7600094" y="2740376"/>
                <a:ext cx="1537617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README.md → templates/ → examples/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002D9620-497E-BD25-65A8-04662E8F1F37}"/>
                  </a:ext>
                </a:extLst>
              </p:cNvPr>
              <p:cNvSpPr txBox="1"/>
              <p:nvPr/>
            </p:nvSpPr>
            <p:spPr>
              <a:xfrm>
                <a:off x="7600094" y="2866339"/>
                <a:ext cx="1752613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README.md → Makefile (command reference)</a:t>
                </a: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A853956-AFF8-7190-E128-6D93ACA2A119}"/>
                  </a:ext>
                </a:extLst>
              </p:cNvPr>
              <p:cNvSpPr txBox="1"/>
              <p:nvPr/>
            </p:nvSpPr>
            <p:spPr>
              <a:xfrm>
                <a:off x="7600094" y="3068727"/>
                <a:ext cx="1198827" cy="203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>
                    <a:ln/>
                    <a:solidFill>
                      <a:srgbClr val="1E293B"/>
                    </a:solidFill>
                    <a:latin typeface="Segoe UI"/>
                    <a:cs typeface="Segoe UI"/>
                    <a:sym typeface="Segoe UI"/>
                    <a:rtl val="0"/>
                  </a:rPr>
                  <a:t>Standards authority chain</a:t>
                </a: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D8EBA44D-84A4-F1D6-9E06-8988FA595114}"/>
                  </a:ext>
                </a:extLst>
              </p:cNvPr>
              <p:cNvSpPr/>
              <p:nvPr/>
            </p:nvSpPr>
            <p:spPr>
              <a:xfrm>
                <a:off x="7691534" y="3240055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7B34D88-A998-703F-FEE6-F74931F8B58A}"/>
                  </a:ext>
                </a:extLst>
              </p:cNvPr>
              <p:cNvSpPr txBox="1"/>
              <p:nvPr/>
            </p:nvSpPr>
            <p:spPr>
              <a:xfrm>
                <a:off x="7600094" y="3244229"/>
                <a:ext cx="1598545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SKILL.md ← referenced by → README.md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F29D3A6-87FB-188A-F804-01118CB0B670}"/>
                  </a:ext>
                </a:extLst>
              </p:cNvPr>
              <p:cNvSpPr txBox="1"/>
              <p:nvPr/>
            </p:nvSpPr>
            <p:spPr>
              <a:xfrm>
                <a:off x="7600094" y="3370192"/>
                <a:ext cx="1673380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SKILL.md ← referenced by → CHECKLIST.md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F0DC2A00-067A-DC84-E66A-500A5C5D2D2F}"/>
                  </a:ext>
                </a:extLst>
              </p:cNvPr>
              <p:cNvSpPr txBox="1"/>
              <p:nvPr/>
            </p:nvSpPr>
            <p:spPr>
              <a:xfrm>
                <a:off x="7600094" y="3496156"/>
                <a:ext cx="1885068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SKILL.md = single source of truth (rules + prompt)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CE0A2DC-6279-4F2A-2A75-2566FFDD5CF6}"/>
                  </a:ext>
                </a:extLst>
              </p:cNvPr>
              <p:cNvSpPr txBox="1"/>
              <p:nvPr/>
            </p:nvSpPr>
            <p:spPr>
              <a:xfrm>
                <a:off x="7600094" y="3698543"/>
                <a:ext cx="1342832" cy="203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>
                    <a:ln/>
                    <a:solidFill>
                      <a:srgbClr val="1E293B"/>
                    </a:solidFill>
                    <a:latin typeface="Segoe UI"/>
                    <a:cs typeface="Segoe UI"/>
                    <a:sym typeface="Segoe UI"/>
                    <a:rtl val="0"/>
                  </a:rPr>
                  <a:t>Validation enforcement chain</a:t>
                </a: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AF04528A-D516-ED66-2731-887C2F9D355C}"/>
                  </a:ext>
                </a:extLst>
              </p:cNvPr>
              <p:cNvSpPr/>
              <p:nvPr/>
            </p:nvSpPr>
            <p:spPr>
              <a:xfrm>
                <a:off x="7691534" y="3869871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9DDF6496-A48B-B4A7-C7BD-ED44D742517F}"/>
                  </a:ext>
                </a:extLst>
              </p:cNvPr>
              <p:cNvSpPr txBox="1"/>
              <p:nvPr/>
            </p:nvSpPr>
            <p:spPr>
              <a:xfrm>
                <a:off x="7600094" y="3874046"/>
                <a:ext cx="1312961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Makefile scans → templates/*.svg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5338102-F92B-C75C-6733-692A9422EDB0}"/>
                  </a:ext>
                </a:extLst>
              </p:cNvPr>
              <p:cNvSpPr txBox="1"/>
              <p:nvPr/>
            </p:nvSpPr>
            <p:spPr>
              <a:xfrm>
                <a:off x="7600094" y="4000009"/>
                <a:ext cx="1296122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Makefile scans → examples/*.svg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8CFD36C-7259-2206-C353-6ED0F12F5D50}"/>
                  </a:ext>
                </a:extLst>
              </p:cNvPr>
              <p:cNvSpPr txBox="1"/>
              <p:nvPr/>
            </p:nvSpPr>
            <p:spPr>
              <a:xfrm>
                <a:off x="7600094" y="4125972"/>
                <a:ext cx="1562386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Makefile enforces rules from → SKILL.md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A98718EC-EAAC-9FFB-8E4B-45DAB5664E0A}"/>
                  </a:ext>
                </a:extLst>
              </p:cNvPr>
              <p:cNvSpPr txBox="1"/>
              <p:nvPr/>
            </p:nvSpPr>
            <p:spPr>
              <a:xfrm>
                <a:off x="7600094" y="4251935"/>
                <a:ext cx="1846843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CHECKLIST.md manual companion to → Makefile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354D46ED-53CB-C2DF-FA04-4AC4F3B4E621}"/>
                  </a:ext>
                </a:extLst>
              </p:cNvPr>
              <p:cNvSpPr txBox="1"/>
              <p:nvPr/>
            </p:nvSpPr>
            <p:spPr>
              <a:xfrm>
                <a:off x="7600094" y="4468319"/>
                <a:ext cx="1572207" cy="203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>
                    <a:ln/>
                    <a:solidFill>
                      <a:srgbClr val="1E293B"/>
                    </a:solidFill>
                    <a:latin typeface="Segoe UI"/>
                    <a:cs typeface="Segoe UI"/>
                    <a:sym typeface="Segoe UI"/>
                    <a:rtl val="0"/>
                  </a:rPr>
                  <a:t>Constraints enforced across all files</a:t>
                </a: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D6D1B8B6-9849-03FD-3A7A-C1474BA8D928}"/>
                  </a:ext>
                </a:extLst>
              </p:cNvPr>
              <p:cNvSpPr/>
              <p:nvPr/>
            </p:nvSpPr>
            <p:spPr>
              <a:xfrm>
                <a:off x="7691534" y="4639646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2252F373-1D5E-130A-C24F-D4637DB214DB}"/>
                  </a:ext>
                </a:extLst>
              </p:cNvPr>
              <p:cNvSpPr/>
              <p:nvPr/>
            </p:nvSpPr>
            <p:spPr>
              <a:xfrm>
                <a:off x="7691534" y="4688632"/>
                <a:ext cx="3652934" cy="153955"/>
              </a:xfrm>
              <a:prstGeom prst="rect">
                <a:avLst/>
              </a:prstGeom>
              <a:solidFill>
                <a:srgbClr val="F1F5F9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3E306F7B-A3C8-2D17-3BA8-A039C68C0D3D}"/>
                  </a:ext>
                </a:extLst>
              </p:cNvPr>
              <p:cNvSpPr txBox="1"/>
              <p:nvPr/>
            </p:nvSpPr>
            <p:spPr>
              <a:xfrm>
                <a:off x="7670073" y="4664815"/>
                <a:ext cx="558822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b="1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Constraint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738A860-BFC7-C333-CF06-3362E5242FC6}"/>
                  </a:ext>
                </a:extLst>
              </p:cNvPr>
              <p:cNvSpPr txBox="1"/>
              <p:nvPr/>
            </p:nvSpPr>
            <p:spPr>
              <a:xfrm>
                <a:off x="9279604" y="4664815"/>
                <a:ext cx="558220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b="1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Defined in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B55DA2F3-FE91-EDCB-A3FC-6C2FF75C0F8C}"/>
                  </a:ext>
                </a:extLst>
              </p:cNvPr>
              <p:cNvSpPr txBox="1"/>
              <p:nvPr/>
            </p:nvSpPr>
            <p:spPr>
              <a:xfrm>
                <a:off x="10469257" y="4664815"/>
                <a:ext cx="613961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b="1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Enforced by</a:t>
                </a:r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6FC69542-B419-5E40-EC3A-32EAD8B78422}"/>
                  </a:ext>
                </a:extLst>
              </p:cNvPr>
              <p:cNvSpPr/>
              <p:nvPr/>
            </p:nvSpPr>
            <p:spPr>
              <a:xfrm>
                <a:off x="7691534" y="4842587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85755881-8C58-AE6F-BBDB-5D5E4B84C942}"/>
                  </a:ext>
                </a:extLst>
              </p:cNvPr>
              <p:cNvSpPr txBox="1"/>
              <p:nvPr/>
            </p:nvSpPr>
            <p:spPr>
              <a:xfrm>
                <a:off x="7670073" y="4833320"/>
                <a:ext cx="1013238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rect/line/polygon/text only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4A9B8924-3865-FD9C-76A6-C2F3DF1B2AF4}"/>
                  </a:ext>
                </a:extLst>
              </p:cNvPr>
              <p:cNvSpPr txBox="1"/>
              <p:nvPr/>
            </p:nvSpPr>
            <p:spPr>
              <a:xfrm>
                <a:off x="9279604" y="4833320"/>
                <a:ext cx="717226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SKILL, CHECKLIST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B379FDBC-6B39-4914-A466-3B73DC001D8A}"/>
                  </a:ext>
                </a:extLst>
              </p:cNvPr>
              <p:cNvSpPr txBox="1"/>
              <p:nvPr/>
            </p:nvSpPr>
            <p:spPr>
              <a:xfrm>
                <a:off x="10469257" y="4833320"/>
                <a:ext cx="445098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Makefile</a:t>
                </a: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35ADAAC7-4349-3A59-2196-F2A578BF07EB}"/>
                  </a:ext>
                </a:extLst>
              </p:cNvPr>
              <p:cNvSpPr/>
              <p:nvPr/>
            </p:nvSpPr>
            <p:spPr>
              <a:xfrm>
                <a:off x="7691534" y="4996542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F1F5F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7E433D44-398B-409D-3EED-6724D9614349}"/>
                  </a:ext>
                </a:extLst>
              </p:cNvPr>
              <p:cNvSpPr txBox="1"/>
              <p:nvPr/>
            </p:nvSpPr>
            <p:spPr>
              <a:xfrm>
                <a:off x="7670073" y="4987275"/>
                <a:ext cx="946539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No &lt;marker&gt; or &lt;path&gt;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51326C0-B84C-D712-A7C9-0BC35D2FC0B2}"/>
                  </a:ext>
                </a:extLst>
              </p:cNvPr>
              <p:cNvSpPr txBox="1"/>
              <p:nvPr/>
            </p:nvSpPr>
            <p:spPr>
              <a:xfrm>
                <a:off x="9279604" y="4987275"/>
                <a:ext cx="717226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SKILL, CHECKLIST</a:t>
                </a: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7F3136C7-764C-86AC-1E91-2E7D7FB6E12D}"/>
                  </a:ext>
                </a:extLst>
              </p:cNvPr>
              <p:cNvSpPr txBox="1"/>
              <p:nvPr/>
            </p:nvSpPr>
            <p:spPr>
              <a:xfrm>
                <a:off x="10469257" y="4987275"/>
                <a:ext cx="607541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Makefile grep</a:t>
                </a: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D55D2877-F8A2-EDB8-CF1E-770CD20AF772}"/>
                  </a:ext>
                </a:extLst>
              </p:cNvPr>
              <p:cNvSpPr/>
              <p:nvPr/>
            </p:nvSpPr>
            <p:spPr>
              <a:xfrm>
                <a:off x="7691534" y="5150497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F1F5F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15ED3464-B54C-CFD2-D7E9-D9276FA95919}"/>
                  </a:ext>
                </a:extLst>
              </p:cNvPr>
              <p:cNvSpPr txBox="1"/>
              <p:nvPr/>
            </p:nvSpPr>
            <p:spPr>
              <a:xfrm>
                <a:off x="7670073" y="5141230"/>
                <a:ext cx="1139461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Atomic arrows (line + polygon)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9BD0E9DC-53E6-9FB7-F661-77ADABE94360}"/>
                  </a:ext>
                </a:extLst>
              </p:cNvPr>
              <p:cNvSpPr txBox="1"/>
              <p:nvPr/>
            </p:nvSpPr>
            <p:spPr>
              <a:xfrm>
                <a:off x="9279604" y="5141230"/>
                <a:ext cx="345152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SKILL</a:t>
                </a: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8A3A0EE-ACC8-DCF5-A5D9-3386C4DA6F82}"/>
                  </a:ext>
                </a:extLst>
              </p:cNvPr>
              <p:cNvSpPr txBox="1"/>
              <p:nvPr/>
            </p:nvSpPr>
            <p:spPr>
              <a:xfrm>
                <a:off x="10469257" y="5141230"/>
                <a:ext cx="470657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Examples</a:t>
                </a: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CC030751-7B53-C9B6-621D-111B019A639E}"/>
                  </a:ext>
                </a:extLst>
              </p:cNvPr>
              <p:cNvSpPr/>
              <p:nvPr/>
            </p:nvSpPr>
            <p:spPr>
              <a:xfrm>
                <a:off x="7691534" y="5304453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F1F5F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4F61C1BC-33FD-02D1-0D0E-14A6133D1663}"/>
                  </a:ext>
                </a:extLst>
              </p:cNvPr>
              <p:cNvSpPr txBox="1"/>
              <p:nvPr/>
            </p:nvSpPr>
            <p:spPr>
              <a:xfrm>
                <a:off x="7670073" y="5295185"/>
                <a:ext cx="1107581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Absolute coords, inline styling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49AC605A-58B2-111A-BB33-DC7D65D42E6E}"/>
                  </a:ext>
                </a:extLst>
              </p:cNvPr>
              <p:cNvSpPr txBox="1"/>
              <p:nvPr/>
            </p:nvSpPr>
            <p:spPr>
              <a:xfrm>
                <a:off x="9279604" y="5295185"/>
                <a:ext cx="345152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SKILL</a:t>
                </a: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BA392710-1C57-3218-00A0-70AEF01AC65D}"/>
                  </a:ext>
                </a:extLst>
              </p:cNvPr>
              <p:cNvSpPr txBox="1"/>
              <p:nvPr/>
            </p:nvSpPr>
            <p:spPr>
              <a:xfrm>
                <a:off x="10469257" y="5295185"/>
                <a:ext cx="767216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Examples, Makefile</a:t>
                </a: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DD01E29C-85D8-E22C-6E01-6BDEDB43273E}"/>
                  </a:ext>
                </a:extLst>
              </p:cNvPr>
              <p:cNvSpPr/>
              <p:nvPr/>
            </p:nvSpPr>
            <p:spPr>
              <a:xfrm>
                <a:off x="7691534" y="5458408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F1F5F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0092470A-E290-262D-B261-91B5ADA63D0D}"/>
                  </a:ext>
                </a:extLst>
              </p:cNvPr>
              <p:cNvSpPr txBox="1"/>
              <p:nvPr/>
            </p:nvSpPr>
            <p:spPr>
              <a:xfrm>
                <a:off x="7670073" y="5449140"/>
                <a:ext cx="1112398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Office-safe fonts (Segoe/Arial)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15601A1D-5365-87EB-639D-3291F86A7753}"/>
                  </a:ext>
                </a:extLst>
              </p:cNvPr>
              <p:cNvSpPr txBox="1"/>
              <p:nvPr/>
            </p:nvSpPr>
            <p:spPr>
              <a:xfrm>
                <a:off x="9279604" y="5449140"/>
                <a:ext cx="717226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SKILL, CHECKLIST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A3E5FD08-7430-9C9A-AE8F-DABCD166D249}"/>
                  </a:ext>
                </a:extLst>
              </p:cNvPr>
              <p:cNvSpPr txBox="1"/>
              <p:nvPr/>
            </p:nvSpPr>
            <p:spPr>
              <a:xfrm>
                <a:off x="10469257" y="5449140"/>
                <a:ext cx="470657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Examples</a:t>
                </a: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2793BFAB-F228-CC3B-D83C-D3B864ABB6B3}"/>
                  </a:ext>
                </a:extLst>
              </p:cNvPr>
              <p:cNvSpPr/>
              <p:nvPr/>
            </p:nvSpPr>
            <p:spPr>
              <a:xfrm>
                <a:off x="7691534" y="5612363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F1F5F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2550EA3C-5FE1-4612-5A13-0C5CB1EEE324}"/>
                  </a:ext>
                </a:extLst>
              </p:cNvPr>
              <p:cNvSpPr txBox="1"/>
              <p:nvPr/>
            </p:nvSpPr>
            <p:spPr>
              <a:xfrm>
                <a:off x="7670073" y="5603095"/>
                <a:ext cx="1142980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tspan absolute-y text wrapping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F07BE10F-FE5E-EB46-933B-75AC6B6164A7}"/>
                  </a:ext>
                </a:extLst>
              </p:cNvPr>
              <p:cNvSpPr txBox="1"/>
              <p:nvPr/>
            </p:nvSpPr>
            <p:spPr>
              <a:xfrm>
                <a:off x="9279604" y="5603095"/>
                <a:ext cx="717226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SKILL, CHECKLIST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A1111040-65D3-3C6B-24E0-CF18932D37D5}"/>
                  </a:ext>
                </a:extLst>
              </p:cNvPr>
              <p:cNvSpPr txBox="1"/>
              <p:nvPr/>
            </p:nvSpPr>
            <p:spPr>
              <a:xfrm>
                <a:off x="10469257" y="5603095"/>
                <a:ext cx="713877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API flow example</a:t>
                </a:r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FA1A9472-1083-EE6D-A3C4-65C90C1DB24E}"/>
                  </a:ext>
                </a:extLst>
              </p:cNvPr>
              <p:cNvSpPr/>
              <p:nvPr/>
            </p:nvSpPr>
            <p:spPr>
              <a:xfrm>
                <a:off x="7691534" y="5766318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F1F5F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4E09C031-147F-632C-9B8D-3FFA7F7FD13D}"/>
                  </a:ext>
                </a:extLst>
              </p:cNvPr>
              <p:cNvSpPr txBox="1"/>
              <p:nvPr/>
            </p:nvSpPr>
            <p:spPr>
              <a:xfrm>
                <a:off x="7670073" y="5757050"/>
                <a:ext cx="1051337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Font ≤ 28px, chars ≤ 95/line</a:t>
                </a: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CAE2CD0-2CA5-5579-3E3B-24ED44EAFDF9}"/>
                  </a:ext>
                </a:extLst>
              </p:cNvPr>
              <p:cNvSpPr txBox="1"/>
              <p:nvPr/>
            </p:nvSpPr>
            <p:spPr>
              <a:xfrm>
                <a:off x="9279604" y="5757050"/>
                <a:ext cx="717226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SKILL, CHECKLIST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EA8D27D4-0A30-F3E7-EEA2-6BE852BE94B6}"/>
                  </a:ext>
                </a:extLst>
              </p:cNvPr>
              <p:cNvSpPr txBox="1"/>
              <p:nvPr/>
            </p:nvSpPr>
            <p:spPr>
              <a:xfrm>
                <a:off x="10469257" y="5757050"/>
                <a:ext cx="587415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Makefile vars</a:t>
                </a: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AF9B5798-3418-3532-4E32-78E68CD1F135}"/>
                  </a:ext>
                </a:extLst>
              </p:cNvPr>
              <p:cNvSpPr/>
              <p:nvPr/>
            </p:nvSpPr>
            <p:spPr>
              <a:xfrm>
                <a:off x="7691534" y="5920273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F1F5F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D8D15F98-598B-9AAD-1495-E3E744F3EA8A}"/>
                  </a:ext>
                </a:extLst>
              </p:cNvPr>
              <p:cNvSpPr txBox="1"/>
              <p:nvPr/>
            </p:nvSpPr>
            <p:spPr>
              <a:xfrm>
                <a:off x="7670073" y="5911005"/>
                <a:ext cx="1005071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No external http/https refs</a:t>
                </a: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5E5C125-FECD-37A5-F95C-673191BDBBA7}"/>
                  </a:ext>
                </a:extLst>
              </p:cNvPr>
              <p:cNvSpPr txBox="1"/>
              <p:nvPr/>
            </p:nvSpPr>
            <p:spPr>
              <a:xfrm>
                <a:off x="9279604" y="5911005"/>
                <a:ext cx="641711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SKILL, Makefile</a:t>
                </a: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8BBF3C21-78EA-586B-A948-0635D50ACBAB}"/>
                  </a:ext>
                </a:extLst>
              </p:cNvPr>
              <p:cNvSpPr txBox="1"/>
              <p:nvPr/>
            </p:nvSpPr>
            <p:spPr>
              <a:xfrm>
                <a:off x="10469257" y="5911005"/>
                <a:ext cx="607541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Makefile grep</a:t>
                </a: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0A7EF238-730A-F8EE-9D5F-47A40741CCE4}"/>
                  </a:ext>
                </a:extLst>
              </p:cNvPr>
              <p:cNvSpPr txBox="1"/>
              <p:nvPr/>
            </p:nvSpPr>
            <p:spPr>
              <a:xfrm>
                <a:off x="7600094" y="6133833"/>
                <a:ext cx="983886" cy="203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>
                    <a:ln/>
                    <a:solidFill>
                      <a:srgbClr val="1E293B"/>
                    </a:solidFill>
                    <a:latin typeface="Segoe UI"/>
                    <a:cs typeface="Segoe UI"/>
                    <a:sym typeface="Segoe UI"/>
                    <a:rtl val="0"/>
                  </a:rPr>
                  <a:t>Authoring workflow</a:t>
                </a:r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7048EEBF-2396-EA43-DAF5-E1076EA5958A}"/>
                  </a:ext>
                </a:extLst>
              </p:cNvPr>
              <p:cNvSpPr/>
              <p:nvPr/>
            </p:nvSpPr>
            <p:spPr>
              <a:xfrm>
                <a:off x="7691534" y="6305161"/>
                <a:ext cx="3652934" cy="6997"/>
              </a:xfrm>
              <a:custGeom>
                <a:avLst/>
                <a:gdLst>
                  <a:gd name="csX0" fmla="*/ 0 w 3652934"/>
                  <a:gd name="csY0" fmla="*/ 0 h 6997"/>
                  <a:gd name="csX1" fmla="*/ 3652935 w 3652934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52934" h="6997">
                    <a:moveTo>
                      <a:pt x="0" y="0"/>
                    </a:moveTo>
                    <a:lnTo>
                      <a:pt x="3652935" y="0"/>
                    </a:lnTo>
                  </a:path>
                </a:pathLst>
              </a:custGeom>
              <a:ln w="6995" cap="flat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B519640A-0E22-F3A5-ECC8-5155D1C5DDBF}"/>
                  </a:ext>
                </a:extLst>
              </p:cNvPr>
              <p:cNvSpPr txBox="1"/>
              <p:nvPr/>
            </p:nvSpPr>
            <p:spPr>
              <a:xfrm>
                <a:off x="7670073" y="6309335"/>
                <a:ext cx="2038008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README → SKILL.md → starter template → author SVG</a:t>
                </a: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13D233B7-34EC-AF44-4EAA-0ED96633F81B}"/>
                  </a:ext>
                </a:extLst>
              </p:cNvPr>
              <p:cNvSpPr txBox="1"/>
              <p:nvPr/>
            </p:nvSpPr>
            <p:spPr>
              <a:xfrm>
                <a:off x="7670073" y="6435299"/>
                <a:ext cx="1583172" cy="193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825" spc="0" baseline="0">
                    <a:ln/>
                    <a:solidFill>
                      <a:srgbClr val="374151"/>
                    </a:solidFill>
                    <a:latin typeface="Segoe UI"/>
                    <a:cs typeface="Segoe UI"/>
                    <a:sym typeface="Segoe UI"/>
                    <a:rtl val="0"/>
                  </a:rPr>
                  <a:t>→ make validate → CHECKLIST.md → PPT</a:t>
                </a:r>
              </a:p>
            </p:txBody>
          </p:sp>
        </p:grpSp>
        <p:grpSp>
          <p:nvGrpSpPr>
            <p:cNvPr id="190" name="Graphic 4">
              <a:extLst>
                <a:ext uri="{FF2B5EF4-FFF2-40B4-BE49-F238E27FC236}">
                  <a16:creationId xmlns:a16="http://schemas.microsoft.com/office/drawing/2014/main" id="{15B4B5DF-C288-051A-AFD8-F12F3518FA91}"/>
                </a:ext>
              </a:extLst>
            </p:cNvPr>
            <p:cNvGrpSpPr/>
            <p:nvPr/>
          </p:nvGrpSpPr>
          <p:grpSpPr>
            <a:xfrm>
              <a:off x="3177850" y="2470279"/>
              <a:ext cx="3149081" cy="2400300"/>
              <a:chOff x="3177850" y="2470279"/>
              <a:chExt cx="3149081" cy="2400300"/>
            </a:xfrm>
          </p:grpSpPr>
          <p:grpSp>
            <p:nvGrpSpPr>
              <p:cNvPr id="191" name="Graphic 4">
                <a:extLst>
                  <a:ext uri="{FF2B5EF4-FFF2-40B4-BE49-F238E27FC236}">
                    <a16:creationId xmlns:a16="http://schemas.microsoft.com/office/drawing/2014/main" id="{1845FCB4-4B85-DBFD-C7D5-5308177BDED0}"/>
                  </a:ext>
                </a:extLst>
              </p:cNvPr>
              <p:cNvGrpSpPr/>
              <p:nvPr/>
            </p:nvGrpSpPr>
            <p:grpSpPr>
              <a:xfrm>
                <a:off x="4332513" y="2470279"/>
                <a:ext cx="447869" cy="69979"/>
                <a:chOff x="4332513" y="2470279"/>
                <a:chExt cx="447869" cy="69979"/>
              </a:xfrm>
              <a:solidFill>
                <a:srgbClr val="1E40AF"/>
              </a:solidFill>
            </p:grpSpPr>
            <p:sp>
              <p:nvSpPr>
                <p:cNvPr id="192" name="Freeform: Shape 191">
                  <a:extLst>
                    <a:ext uri="{FF2B5EF4-FFF2-40B4-BE49-F238E27FC236}">
                      <a16:creationId xmlns:a16="http://schemas.microsoft.com/office/drawing/2014/main" id="{B2C8F267-2D16-8E6F-613D-C7AF6DC0F902}"/>
                    </a:ext>
                  </a:extLst>
                </p:cNvPr>
                <p:cNvSpPr/>
                <p:nvPr/>
              </p:nvSpPr>
              <p:spPr>
                <a:xfrm>
                  <a:off x="4332513" y="2505269"/>
                  <a:ext cx="377889" cy="6997"/>
                </a:xfrm>
                <a:custGeom>
                  <a:avLst/>
                  <a:gdLst>
                    <a:gd name="csX0" fmla="*/ 0 w 377889"/>
                    <a:gd name="csY0" fmla="*/ 0 h 6997"/>
                    <a:gd name="csX1" fmla="*/ 377890 w 377889"/>
                    <a:gd name="csY1" fmla="*/ 0 h 69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77889" h="6997">
                      <a:moveTo>
                        <a:pt x="0" y="0"/>
                      </a:moveTo>
                      <a:lnTo>
                        <a:pt x="377890" y="0"/>
                      </a:lnTo>
                    </a:path>
                  </a:pathLst>
                </a:custGeom>
                <a:ln w="10492" cap="flat">
                  <a:solidFill>
                    <a:srgbClr val="1E40A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735788AC-986D-1EC0-F995-C27820662B29}"/>
                    </a:ext>
                  </a:extLst>
                </p:cNvPr>
                <p:cNvSpPr/>
                <p:nvPr/>
              </p:nvSpPr>
              <p:spPr>
                <a:xfrm>
                  <a:off x="4710403" y="2470279"/>
                  <a:ext cx="69979" cy="69979"/>
                </a:xfrm>
                <a:custGeom>
                  <a:avLst/>
                  <a:gdLst>
                    <a:gd name="csX0" fmla="*/ 0 w 69979"/>
                    <a:gd name="csY0" fmla="*/ 0 h 69979"/>
                    <a:gd name="csX1" fmla="*/ 69980 w 69979"/>
                    <a:gd name="csY1" fmla="*/ 34990 h 69979"/>
                    <a:gd name="csX2" fmla="*/ 0 w 69979"/>
                    <a:gd name="csY2" fmla="*/ 69980 h 699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9979" h="69979">
                      <a:moveTo>
                        <a:pt x="0" y="0"/>
                      </a:moveTo>
                      <a:lnTo>
                        <a:pt x="69980" y="34990"/>
                      </a:lnTo>
                      <a:lnTo>
                        <a:pt x="0" y="69980"/>
                      </a:lnTo>
                      <a:close/>
                    </a:path>
                  </a:pathLst>
                </a:custGeom>
                <a:solidFill>
                  <a:srgbClr val="1E40AF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4" name="Graphic 4">
                <a:extLst>
                  <a:ext uri="{FF2B5EF4-FFF2-40B4-BE49-F238E27FC236}">
                    <a16:creationId xmlns:a16="http://schemas.microsoft.com/office/drawing/2014/main" id="{65218BCA-1182-DDE1-A788-6C9F631A125F}"/>
                  </a:ext>
                </a:extLst>
              </p:cNvPr>
              <p:cNvGrpSpPr/>
              <p:nvPr/>
            </p:nvGrpSpPr>
            <p:grpSpPr>
              <a:xfrm>
                <a:off x="3177850" y="3205065"/>
                <a:ext cx="69979" cy="251926"/>
                <a:chOff x="3177850" y="3205065"/>
                <a:chExt cx="69979" cy="251926"/>
              </a:xfrm>
              <a:solidFill>
                <a:srgbClr val="6D28D9"/>
              </a:solidFill>
            </p:grpSpPr>
            <p:sp>
              <p:nvSpPr>
                <p:cNvPr id="195" name="Freeform: Shape 194">
                  <a:extLst>
                    <a:ext uri="{FF2B5EF4-FFF2-40B4-BE49-F238E27FC236}">
                      <a16:creationId xmlns:a16="http://schemas.microsoft.com/office/drawing/2014/main" id="{693DB03C-F25B-0B9F-D68A-9E65924D1775}"/>
                    </a:ext>
                  </a:extLst>
                </p:cNvPr>
                <p:cNvSpPr/>
                <p:nvPr/>
              </p:nvSpPr>
              <p:spPr>
                <a:xfrm>
                  <a:off x="3212840" y="3205065"/>
                  <a:ext cx="6997" cy="181946"/>
                </a:xfrm>
                <a:custGeom>
                  <a:avLst/>
                  <a:gdLst>
                    <a:gd name="csX0" fmla="*/ 0 w 6997"/>
                    <a:gd name="csY0" fmla="*/ 0 h 181946"/>
                    <a:gd name="csX1" fmla="*/ 0 w 6997"/>
                    <a:gd name="csY1" fmla="*/ 181947 h 1819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997" h="181946">
                      <a:moveTo>
                        <a:pt x="0" y="0"/>
                      </a:moveTo>
                      <a:lnTo>
                        <a:pt x="0" y="181947"/>
                      </a:lnTo>
                    </a:path>
                  </a:pathLst>
                </a:custGeom>
                <a:ln w="10492" cap="flat">
                  <a:solidFill>
                    <a:srgbClr val="6D28D9"/>
                  </a:solidFill>
                  <a:custDash>
                    <a:ds d="375000" sp="225000"/>
                  </a:custDash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: Shape 195">
                  <a:extLst>
                    <a:ext uri="{FF2B5EF4-FFF2-40B4-BE49-F238E27FC236}">
                      <a16:creationId xmlns:a16="http://schemas.microsoft.com/office/drawing/2014/main" id="{817852A8-ADCF-2E79-C2BD-534F00972344}"/>
                    </a:ext>
                  </a:extLst>
                </p:cNvPr>
                <p:cNvSpPr/>
                <p:nvPr/>
              </p:nvSpPr>
              <p:spPr>
                <a:xfrm>
                  <a:off x="3177850" y="3387012"/>
                  <a:ext cx="69979" cy="69979"/>
                </a:xfrm>
                <a:custGeom>
                  <a:avLst/>
                  <a:gdLst>
                    <a:gd name="csX0" fmla="*/ 0 w 69979"/>
                    <a:gd name="csY0" fmla="*/ 0 h 69979"/>
                    <a:gd name="csX1" fmla="*/ 34990 w 69979"/>
                    <a:gd name="csY1" fmla="*/ 69980 h 69979"/>
                    <a:gd name="csX2" fmla="*/ 69980 w 69979"/>
                    <a:gd name="csY2" fmla="*/ 0 h 699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9979" h="69979">
                      <a:moveTo>
                        <a:pt x="0" y="0"/>
                      </a:moveTo>
                      <a:lnTo>
                        <a:pt x="34990" y="69980"/>
                      </a:lnTo>
                      <a:lnTo>
                        <a:pt x="69980" y="0"/>
                      </a:lnTo>
                      <a:close/>
                    </a:path>
                  </a:pathLst>
                </a:custGeom>
                <a:solidFill>
                  <a:srgbClr val="6D28D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7" name="Graphic 4">
                <a:extLst>
                  <a:ext uri="{FF2B5EF4-FFF2-40B4-BE49-F238E27FC236}">
                    <a16:creationId xmlns:a16="http://schemas.microsoft.com/office/drawing/2014/main" id="{BB132AA3-10D3-1A2B-EAAA-69F0DD272058}"/>
                  </a:ext>
                </a:extLst>
              </p:cNvPr>
              <p:cNvGrpSpPr/>
              <p:nvPr/>
            </p:nvGrpSpPr>
            <p:grpSpPr>
              <a:xfrm>
                <a:off x="5137279" y="3205065"/>
                <a:ext cx="69979" cy="251926"/>
                <a:chOff x="5137279" y="3205065"/>
                <a:chExt cx="69979" cy="251926"/>
              </a:xfrm>
              <a:solidFill>
                <a:srgbClr val="6D28D9"/>
              </a:solidFill>
            </p:grpSpPr>
            <p:sp>
              <p:nvSpPr>
                <p:cNvPr id="198" name="Freeform: Shape 197">
                  <a:extLst>
                    <a:ext uri="{FF2B5EF4-FFF2-40B4-BE49-F238E27FC236}">
                      <a16:creationId xmlns:a16="http://schemas.microsoft.com/office/drawing/2014/main" id="{153FA155-F303-A489-F136-C7CDE8EEF07D}"/>
                    </a:ext>
                  </a:extLst>
                </p:cNvPr>
                <p:cNvSpPr/>
                <p:nvPr/>
              </p:nvSpPr>
              <p:spPr>
                <a:xfrm>
                  <a:off x="5172268" y="3205065"/>
                  <a:ext cx="6997" cy="181946"/>
                </a:xfrm>
                <a:custGeom>
                  <a:avLst/>
                  <a:gdLst>
                    <a:gd name="csX0" fmla="*/ 0 w 6997"/>
                    <a:gd name="csY0" fmla="*/ 0 h 181946"/>
                    <a:gd name="csX1" fmla="*/ 0 w 6997"/>
                    <a:gd name="csY1" fmla="*/ 181947 h 1819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997" h="181946">
                      <a:moveTo>
                        <a:pt x="0" y="0"/>
                      </a:moveTo>
                      <a:lnTo>
                        <a:pt x="0" y="181947"/>
                      </a:lnTo>
                    </a:path>
                  </a:pathLst>
                </a:custGeom>
                <a:ln w="10492" cap="flat">
                  <a:solidFill>
                    <a:srgbClr val="6D28D9"/>
                  </a:solidFill>
                  <a:custDash>
                    <a:ds d="375000" sp="225000"/>
                  </a:custDash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: Shape 198">
                  <a:extLst>
                    <a:ext uri="{FF2B5EF4-FFF2-40B4-BE49-F238E27FC236}">
                      <a16:creationId xmlns:a16="http://schemas.microsoft.com/office/drawing/2014/main" id="{6F79B64B-B733-C8D8-6771-BB06FFF66AE4}"/>
                    </a:ext>
                  </a:extLst>
                </p:cNvPr>
                <p:cNvSpPr/>
                <p:nvPr/>
              </p:nvSpPr>
              <p:spPr>
                <a:xfrm>
                  <a:off x="5137279" y="3387012"/>
                  <a:ext cx="69979" cy="69979"/>
                </a:xfrm>
                <a:custGeom>
                  <a:avLst/>
                  <a:gdLst>
                    <a:gd name="csX0" fmla="*/ 0 w 69979"/>
                    <a:gd name="csY0" fmla="*/ 0 h 69979"/>
                    <a:gd name="csX1" fmla="*/ 34990 w 69979"/>
                    <a:gd name="csY1" fmla="*/ 69980 h 69979"/>
                    <a:gd name="csX2" fmla="*/ 69980 w 69979"/>
                    <a:gd name="csY2" fmla="*/ 0 h 699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9979" h="69979">
                      <a:moveTo>
                        <a:pt x="0" y="0"/>
                      </a:moveTo>
                      <a:lnTo>
                        <a:pt x="34990" y="69980"/>
                      </a:lnTo>
                      <a:lnTo>
                        <a:pt x="69980" y="0"/>
                      </a:lnTo>
                      <a:close/>
                    </a:path>
                  </a:pathLst>
                </a:custGeom>
                <a:solidFill>
                  <a:srgbClr val="6D28D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0" name="Graphic 4">
                <a:extLst>
                  <a:ext uri="{FF2B5EF4-FFF2-40B4-BE49-F238E27FC236}">
                    <a16:creationId xmlns:a16="http://schemas.microsoft.com/office/drawing/2014/main" id="{ECFEEFC1-7531-8645-6022-AE3DE8FD5C07}"/>
                  </a:ext>
                </a:extLst>
              </p:cNvPr>
              <p:cNvGrpSpPr/>
              <p:nvPr/>
            </p:nvGrpSpPr>
            <p:grpSpPr>
              <a:xfrm>
                <a:off x="5837075" y="3205065"/>
                <a:ext cx="69979" cy="1665514"/>
                <a:chOff x="5837075" y="3205065"/>
                <a:chExt cx="69979" cy="1665514"/>
              </a:xfrm>
              <a:solidFill>
                <a:srgbClr val="B45309"/>
              </a:solidFill>
            </p:grpSpPr>
            <p:sp>
              <p:nvSpPr>
                <p:cNvPr id="201" name="Freeform: Shape 200">
                  <a:extLst>
                    <a:ext uri="{FF2B5EF4-FFF2-40B4-BE49-F238E27FC236}">
                      <a16:creationId xmlns:a16="http://schemas.microsoft.com/office/drawing/2014/main" id="{D3E99980-2FB2-94BC-7B76-2ECD9438EB09}"/>
                    </a:ext>
                  </a:extLst>
                </p:cNvPr>
                <p:cNvSpPr/>
                <p:nvPr/>
              </p:nvSpPr>
              <p:spPr>
                <a:xfrm>
                  <a:off x="5872064" y="3205065"/>
                  <a:ext cx="6997" cy="1595534"/>
                </a:xfrm>
                <a:custGeom>
                  <a:avLst/>
                  <a:gdLst>
                    <a:gd name="csX0" fmla="*/ 0 w 6997"/>
                    <a:gd name="csY0" fmla="*/ 0 h 1595534"/>
                    <a:gd name="csX1" fmla="*/ 0 w 6997"/>
                    <a:gd name="csY1" fmla="*/ 1595535 h 159553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997" h="1595534">
                      <a:moveTo>
                        <a:pt x="0" y="0"/>
                      </a:moveTo>
                      <a:lnTo>
                        <a:pt x="0" y="1595535"/>
                      </a:lnTo>
                    </a:path>
                  </a:pathLst>
                </a:custGeom>
                <a:ln w="10492" cap="flat">
                  <a:solidFill>
                    <a:srgbClr val="B45309"/>
                  </a:solidFill>
                  <a:custDash>
                    <a:ds d="375000" sp="225000"/>
                  </a:custDash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Freeform: Shape 201">
                  <a:extLst>
                    <a:ext uri="{FF2B5EF4-FFF2-40B4-BE49-F238E27FC236}">
                      <a16:creationId xmlns:a16="http://schemas.microsoft.com/office/drawing/2014/main" id="{AE4F96EA-4AD6-837C-E78C-158193249D46}"/>
                    </a:ext>
                  </a:extLst>
                </p:cNvPr>
                <p:cNvSpPr/>
                <p:nvPr/>
              </p:nvSpPr>
              <p:spPr>
                <a:xfrm>
                  <a:off x="5837075" y="4800600"/>
                  <a:ext cx="69979" cy="69979"/>
                </a:xfrm>
                <a:custGeom>
                  <a:avLst/>
                  <a:gdLst>
                    <a:gd name="csX0" fmla="*/ 0 w 69979"/>
                    <a:gd name="csY0" fmla="*/ 0 h 69979"/>
                    <a:gd name="csX1" fmla="*/ 34990 w 69979"/>
                    <a:gd name="csY1" fmla="*/ 69980 h 69979"/>
                    <a:gd name="csX2" fmla="*/ 69980 w 69979"/>
                    <a:gd name="csY2" fmla="*/ 0 h 699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9979" h="69979">
                      <a:moveTo>
                        <a:pt x="0" y="0"/>
                      </a:moveTo>
                      <a:lnTo>
                        <a:pt x="34990" y="69980"/>
                      </a:lnTo>
                      <a:lnTo>
                        <a:pt x="69980" y="0"/>
                      </a:lnTo>
                      <a:close/>
                    </a:path>
                  </a:pathLst>
                </a:custGeom>
                <a:solidFill>
                  <a:srgbClr val="B4530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3" name="Graphic 4">
                <a:extLst>
                  <a:ext uri="{FF2B5EF4-FFF2-40B4-BE49-F238E27FC236}">
                    <a16:creationId xmlns:a16="http://schemas.microsoft.com/office/drawing/2014/main" id="{EEEC7287-384C-E9B7-B1E4-602A5F200F49}"/>
                  </a:ext>
                </a:extLst>
              </p:cNvPr>
              <p:cNvGrpSpPr/>
              <p:nvPr/>
            </p:nvGrpSpPr>
            <p:grpSpPr>
              <a:xfrm>
                <a:off x="4332513" y="3988836"/>
                <a:ext cx="447869" cy="69979"/>
                <a:chOff x="4332513" y="3988836"/>
                <a:chExt cx="447869" cy="69979"/>
              </a:xfrm>
              <a:solidFill>
                <a:srgbClr val="6D28D9"/>
              </a:solidFill>
            </p:grpSpPr>
            <p:sp>
              <p:nvSpPr>
                <p:cNvPr id="204" name="Freeform: Shape 203">
                  <a:extLst>
                    <a:ext uri="{FF2B5EF4-FFF2-40B4-BE49-F238E27FC236}">
                      <a16:creationId xmlns:a16="http://schemas.microsoft.com/office/drawing/2014/main" id="{2D98A9C6-98A8-2F2B-DD2C-392B8640E1AE}"/>
                    </a:ext>
                  </a:extLst>
                </p:cNvPr>
                <p:cNvSpPr/>
                <p:nvPr/>
              </p:nvSpPr>
              <p:spPr>
                <a:xfrm>
                  <a:off x="4332513" y="4023826"/>
                  <a:ext cx="377889" cy="6997"/>
                </a:xfrm>
                <a:custGeom>
                  <a:avLst/>
                  <a:gdLst>
                    <a:gd name="csX0" fmla="*/ 0 w 377889"/>
                    <a:gd name="csY0" fmla="*/ 0 h 6997"/>
                    <a:gd name="csX1" fmla="*/ 377890 w 377889"/>
                    <a:gd name="csY1" fmla="*/ 0 h 69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77889" h="6997">
                      <a:moveTo>
                        <a:pt x="0" y="0"/>
                      </a:moveTo>
                      <a:lnTo>
                        <a:pt x="377890" y="0"/>
                      </a:lnTo>
                    </a:path>
                  </a:pathLst>
                </a:custGeom>
                <a:ln w="10492" cap="flat">
                  <a:solidFill>
                    <a:srgbClr val="6D28D9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Freeform: Shape 204">
                  <a:extLst>
                    <a:ext uri="{FF2B5EF4-FFF2-40B4-BE49-F238E27FC236}">
                      <a16:creationId xmlns:a16="http://schemas.microsoft.com/office/drawing/2014/main" id="{107DDD5A-603C-DB77-966A-36D61F341AA2}"/>
                    </a:ext>
                  </a:extLst>
                </p:cNvPr>
                <p:cNvSpPr/>
                <p:nvPr/>
              </p:nvSpPr>
              <p:spPr>
                <a:xfrm>
                  <a:off x="4710403" y="3988836"/>
                  <a:ext cx="69979" cy="69979"/>
                </a:xfrm>
                <a:custGeom>
                  <a:avLst/>
                  <a:gdLst>
                    <a:gd name="csX0" fmla="*/ 0 w 69979"/>
                    <a:gd name="csY0" fmla="*/ 0 h 69979"/>
                    <a:gd name="csX1" fmla="*/ 69980 w 69979"/>
                    <a:gd name="csY1" fmla="*/ 34990 h 69979"/>
                    <a:gd name="csX2" fmla="*/ 0 w 69979"/>
                    <a:gd name="csY2" fmla="*/ 69980 h 699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9979" h="69979">
                      <a:moveTo>
                        <a:pt x="0" y="0"/>
                      </a:moveTo>
                      <a:lnTo>
                        <a:pt x="69980" y="34990"/>
                      </a:lnTo>
                      <a:lnTo>
                        <a:pt x="0" y="69980"/>
                      </a:lnTo>
                      <a:close/>
                    </a:path>
                  </a:pathLst>
                </a:custGeom>
                <a:solidFill>
                  <a:srgbClr val="6D28D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6" name="Graphic 4">
                <a:extLst>
                  <a:ext uri="{FF2B5EF4-FFF2-40B4-BE49-F238E27FC236}">
                    <a16:creationId xmlns:a16="http://schemas.microsoft.com/office/drawing/2014/main" id="{69BF92F3-70F8-A03F-7DFE-D96F066A2D47}"/>
                  </a:ext>
                </a:extLst>
              </p:cNvPr>
              <p:cNvGrpSpPr/>
              <p:nvPr/>
            </p:nvGrpSpPr>
            <p:grpSpPr>
              <a:xfrm>
                <a:off x="4297523" y="4618653"/>
                <a:ext cx="1014704" cy="230932"/>
                <a:chOff x="4297523" y="4618653"/>
                <a:chExt cx="1014704" cy="230932"/>
              </a:xfrm>
              <a:solidFill>
                <a:srgbClr val="B45309"/>
              </a:solidFill>
            </p:grpSpPr>
            <p:sp>
              <p:nvSpPr>
                <p:cNvPr id="207" name="Freeform: Shape 206">
                  <a:extLst>
                    <a:ext uri="{FF2B5EF4-FFF2-40B4-BE49-F238E27FC236}">
                      <a16:creationId xmlns:a16="http://schemas.microsoft.com/office/drawing/2014/main" id="{89C704D9-F8A3-E355-022A-8180930B54BD}"/>
                    </a:ext>
                  </a:extLst>
                </p:cNvPr>
                <p:cNvSpPr/>
                <p:nvPr/>
              </p:nvSpPr>
              <p:spPr>
                <a:xfrm>
                  <a:off x="4332513" y="4618653"/>
                  <a:ext cx="979714" cy="181946"/>
                </a:xfrm>
                <a:custGeom>
                  <a:avLst/>
                  <a:gdLst>
                    <a:gd name="csX0" fmla="*/ 979714 w 979714"/>
                    <a:gd name="csY0" fmla="*/ 0 h 181946"/>
                    <a:gd name="csX1" fmla="*/ 0 w 979714"/>
                    <a:gd name="csY1" fmla="*/ 181947 h 1819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79714" h="181946">
                      <a:moveTo>
                        <a:pt x="979714" y="0"/>
                      </a:moveTo>
                      <a:lnTo>
                        <a:pt x="0" y="181947"/>
                      </a:lnTo>
                    </a:path>
                  </a:pathLst>
                </a:custGeom>
                <a:ln w="10492" cap="flat">
                  <a:solidFill>
                    <a:srgbClr val="B45309"/>
                  </a:solidFill>
                  <a:custDash>
                    <a:ds d="375000" sp="225000"/>
                  </a:custDash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C4A3FA77-628A-87B6-E4B4-828D6C780E5E}"/>
                    </a:ext>
                  </a:extLst>
                </p:cNvPr>
                <p:cNvSpPr/>
                <p:nvPr/>
              </p:nvSpPr>
              <p:spPr>
                <a:xfrm>
                  <a:off x="4297523" y="4765610"/>
                  <a:ext cx="69979" cy="83975"/>
                </a:xfrm>
                <a:custGeom>
                  <a:avLst/>
                  <a:gdLst>
                    <a:gd name="csX0" fmla="*/ 0 w 69979"/>
                    <a:gd name="csY0" fmla="*/ 0 h 83975"/>
                    <a:gd name="csX1" fmla="*/ 0 w 69979"/>
                    <a:gd name="csY1" fmla="*/ 83976 h 83975"/>
                    <a:gd name="csX2" fmla="*/ 69980 w 69979"/>
                    <a:gd name="csY2" fmla="*/ 41988 h 839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9979" h="83975">
                      <a:moveTo>
                        <a:pt x="0" y="0"/>
                      </a:moveTo>
                      <a:lnTo>
                        <a:pt x="0" y="83976"/>
                      </a:lnTo>
                      <a:lnTo>
                        <a:pt x="69980" y="41988"/>
                      </a:lnTo>
                      <a:close/>
                    </a:path>
                  </a:pathLst>
                </a:custGeom>
                <a:solidFill>
                  <a:srgbClr val="B4530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9" name="Graphic 4">
                <a:extLst>
                  <a:ext uri="{FF2B5EF4-FFF2-40B4-BE49-F238E27FC236}">
                    <a16:creationId xmlns:a16="http://schemas.microsoft.com/office/drawing/2014/main" id="{F301183F-2B5A-A44A-44F7-BDCA12AEE4A6}"/>
                  </a:ext>
                </a:extLst>
              </p:cNvPr>
              <p:cNvGrpSpPr/>
              <p:nvPr/>
            </p:nvGrpSpPr>
            <p:grpSpPr>
              <a:xfrm>
                <a:off x="6256952" y="4618653"/>
                <a:ext cx="69979" cy="251926"/>
                <a:chOff x="6256952" y="4618653"/>
                <a:chExt cx="69979" cy="251926"/>
              </a:xfrm>
              <a:solidFill>
                <a:srgbClr val="B45309"/>
              </a:solidFill>
            </p:grpSpPr>
            <p:sp>
              <p:nvSpPr>
                <p:cNvPr id="210" name="Freeform: Shape 209">
                  <a:extLst>
                    <a:ext uri="{FF2B5EF4-FFF2-40B4-BE49-F238E27FC236}">
                      <a16:creationId xmlns:a16="http://schemas.microsoft.com/office/drawing/2014/main" id="{B8C878E5-C6B7-D05D-8982-9C5CE88BD871}"/>
                    </a:ext>
                  </a:extLst>
                </p:cNvPr>
                <p:cNvSpPr/>
                <p:nvPr/>
              </p:nvSpPr>
              <p:spPr>
                <a:xfrm>
                  <a:off x="6291942" y="4618653"/>
                  <a:ext cx="6997" cy="181946"/>
                </a:xfrm>
                <a:custGeom>
                  <a:avLst/>
                  <a:gdLst>
                    <a:gd name="csX0" fmla="*/ 0 w 6997"/>
                    <a:gd name="csY0" fmla="*/ 0 h 181946"/>
                    <a:gd name="csX1" fmla="*/ 0 w 6997"/>
                    <a:gd name="csY1" fmla="*/ 181947 h 1819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997" h="181946">
                      <a:moveTo>
                        <a:pt x="0" y="0"/>
                      </a:moveTo>
                      <a:lnTo>
                        <a:pt x="0" y="181947"/>
                      </a:lnTo>
                    </a:path>
                  </a:pathLst>
                </a:custGeom>
                <a:ln w="10492" cap="flat">
                  <a:solidFill>
                    <a:srgbClr val="B45309"/>
                  </a:solidFill>
                  <a:custDash>
                    <a:ds d="375000" sp="225000"/>
                  </a:custDash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CF310DA8-6619-C006-4A7F-3DB70E5FC0BF}"/>
                    </a:ext>
                  </a:extLst>
                </p:cNvPr>
                <p:cNvSpPr/>
                <p:nvPr/>
              </p:nvSpPr>
              <p:spPr>
                <a:xfrm>
                  <a:off x="6256952" y="4800600"/>
                  <a:ext cx="69979" cy="69979"/>
                </a:xfrm>
                <a:custGeom>
                  <a:avLst/>
                  <a:gdLst>
                    <a:gd name="csX0" fmla="*/ 0 w 69979"/>
                    <a:gd name="csY0" fmla="*/ 0 h 69979"/>
                    <a:gd name="csX1" fmla="*/ 34990 w 69979"/>
                    <a:gd name="csY1" fmla="*/ 69980 h 69979"/>
                    <a:gd name="csX2" fmla="*/ 69980 w 69979"/>
                    <a:gd name="csY2" fmla="*/ 0 h 699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9979" h="69979">
                      <a:moveTo>
                        <a:pt x="0" y="0"/>
                      </a:moveTo>
                      <a:lnTo>
                        <a:pt x="34990" y="69980"/>
                      </a:lnTo>
                      <a:lnTo>
                        <a:pt x="69980" y="0"/>
                      </a:lnTo>
                      <a:close/>
                    </a:path>
                  </a:pathLst>
                </a:custGeom>
                <a:solidFill>
                  <a:srgbClr val="B45309"/>
                </a:solidFill>
                <a:ln w="699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212" name="Graphic 4">
              <a:extLst>
                <a:ext uri="{FF2B5EF4-FFF2-40B4-BE49-F238E27FC236}">
                  <a16:creationId xmlns:a16="http://schemas.microsoft.com/office/drawing/2014/main" id="{B8E8C6A8-0CB7-7051-AF1D-23F09D74231C}"/>
                </a:ext>
              </a:extLst>
            </p:cNvPr>
            <p:cNvGrpSpPr/>
            <p:nvPr/>
          </p:nvGrpSpPr>
          <p:grpSpPr>
            <a:xfrm>
              <a:off x="2093166" y="6662057"/>
              <a:ext cx="4898571" cy="139959"/>
              <a:chOff x="2093166" y="6662057"/>
              <a:chExt cx="4898571" cy="139959"/>
            </a:xfrm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F2F119CB-987C-6BBA-DDD6-623107F82D5D}"/>
                  </a:ext>
                </a:extLst>
              </p:cNvPr>
              <p:cNvSpPr/>
              <p:nvPr/>
            </p:nvSpPr>
            <p:spPr>
              <a:xfrm>
                <a:off x="2093166" y="6662057"/>
                <a:ext cx="4898571" cy="139959"/>
              </a:xfrm>
              <a:prstGeom prst="rect">
                <a:avLst/>
              </a:prstGeom>
              <a:solidFill>
                <a:srgbClr val="F8FAFC"/>
              </a:solidFill>
              <a:ln w="6995" cap="flat">
                <a:solidFill>
                  <a:srgbClr val="E2E8F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974938A-50B6-3E35-1CAA-860F418B7175}"/>
                  </a:ext>
                </a:extLst>
              </p:cNvPr>
              <p:cNvSpPr/>
              <p:nvPr/>
            </p:nvSpPr>
            <p:spPr>
              <a:xfrm>
                <a:off x="2233125" y="6732036"/>
                <a:ext cx="279918" cy="6997"/>
              </a:xfrm>
              <a:custGeom>
                <a:avLst/>
                <a:gdLst>
                  <a:gd name="csX0" fmla="*/ 0 w 279918"/>
                  <a:gd name="csY0" fmla="*/ 0 h 6997"/>
                  <a:gd name="csX1" fmla="*/ 279918 w 279918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79918" h="6997">
                    <a:moveTo>
                      <a:pt x="0" y="0"/>
                    </a:moveTo>
                    <a:lnTo>
                      <a:pt x="279918" y="0"/>
                    </a:lnTo>
                  </a:path>
                </a:pathLst>
              </a:custGeom>
              <a:ln w="10492" cap="flat">
                <a:solidFill>
                  <a:srgbClr val="475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AB3AE685-2A51-DB80-CF39-F099DCAB3C97}"/>
                  </a:ext>
                </a:extLst>
              </p:cNvPr>
              <p:cNvSpPr/>
              <p:nvPr/>
            </p:nvSpPr>
            <p:spPr>
              <a:xfrm>
                <a:off x="2513044" y="6704044"/>
                <a:ext cx="55983" cy="55983"/>
              </a:xfrm>
              <a:custGeom>
                <a:avLst/>
                <a:gdLst>
                  <a:gd name="csX0" fmla="*/ 0 w 55983"/>
                  <a:gd name="csY0" fmla="*/ 0 h 55983"/>
                  <a:gd name="csX1" fmla="*/ 55984 w 55983"/>
                  <a:gd name="csY1" fmla="*/ 27992 h 55983"/>
                  <a:gd name="csX2" fmla="*/ 0 w 55983"/>
                  <a:gd name="csY2" fmla="*/ 55984 h 559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5983" h="55983">
                    <a:moveTo>
                      <a:pt x="0" y="0"/>
                    </a:moveTo>
                    <a:lnTo>
                      <a:pt x="55984" y="27992"/>
                    </a:lnTo>
                    <a:lnTo>
                      <a:pt x="0" y="55984"/>
                    </a:lnTo>
                    <a:close/>
                  </a:path>
                </a:pathLst>
              </a:custGeom>
              <a:solidFill>
                <a:srgbClr val="475569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74BB9064-A5AE-9A8C-DAE0-F58026739A4E}"/>
                  </a:ext>
                </a:extLst>
              </p:cNvPr>
              <p:cNvSpPr txBox="1"/>
              <p:nvPr/>
            </p:nvSpPr>
            <p:spPr>
              <a:xfrm>
                <a:off x="2519575" y="6638793"/>
                <a:ext cx="666039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75569"/>
                    </a:solidFill>
                    <a:latin typeface="Segoe UI"/>
                    <a:cs typeface="Segoe UI"/>
                    <a:sym typeface="Segoe UI"/>
                    <a:rtl val="0"/>
                  </a:rPr>
                  <a:t>direct reference</a:t>
                </a:r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4441577A-5660-91DD-51B7-D7C27F55A0F5}"/>
                  </a:ext>
                </a:extLst>
              </p:cNvPr>
              <p:cNvSpPr/>
              <p:nvPr/>
            </p:nvSpPr>
            <p:spPr>
              <a:xfrm>
                <a:off x="3436774" y="6732036"/>
                <a:ext cx="279918" cy="6997"/>
              </a:xfrm>
              <a:custGeom>
                <a:avLst/>
                <a:gdLst>
                  <a:gd name="csX0" fmla="*/ 0 w 279918"/>
                  <a:gd name="csY0" fmla="*/ 0 h 6997"/>
                  <a:gd name="csX1" fmla="*/ 279918 w 279918"/>
                  <a:gd name="csY1" fmla="*/ 0 h 6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79918" h="6997">
                    <a:moveTo>
                      <a:pt x="0" y="0"/>
                    </a:moveTo>
                    <a:lnTo>
                      <a:pt x="279918" y="0"/>
                    </a:lnTo>
                  </a:path>
                </a:pathLst>
              </a:custGeom>
              <a:ln w="10492" cap="flat">
                <a:solidFill>
                  <a:srgbClr val="475569"/>
                </a:solidFill>
                <a:custDash>
                  <a:ds d="375000" sp="225000"/>
                </a:custDash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300E3501-DA26-776F-6F31-B62A3E729729}"/>
                  </a:ext>
                </a:extLst>
              </p:cNvPr>
              <p:cNvSpPr/>
              <p:nvPr/>
            </p:nvSpPr>
            <p:spPr>
              <a:xfrm>
                <a:off x="3716693" y="6704044"/>
                <a:ext cx="55983" cy="55983"/>
              </a:xfrm>
              <a:custGeom>
                <a:avLst/>
                <a:gdLst>
                  <a:gd name="csX0" fmla="*/ 0 w 55983"/>
                  <a:gd name="csY0" fmla="*/ 0 h 55983"/>
                  <a:gd name="csX1" fmla="*/ 55984 w 55983"/>
                  <a:gd name="csY1" fmla="*/ 27992 h 55983"/>
                  <a:gd name="csX2" fmla="*/ 0 w 55983"/>
                  <a:gd name="csY2" fmla="*/ 55984 h 559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5983" h="55983">
                    <a:moveTo>
                      <a:pt x="0" y="0"/>
                    </a:moveTo>
                    <a:lnTo>
                      <a:pt x="55984" y="27992"/>
                    </a:lnTo>
                    <a:lnTo>
                      <a:pt x="0" y="55984"/>
                    </a:lnTo>
                    <a:close/>
                  </a:path>
                </a:pathLst>
              </a:custGeom>
              <a:solidFill>
                <a:srgbClr val="475569"/>
              </a:solidFill>
              <a:ln w="699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6BB01008-A573-33DB-ABDF-5D5311911C25}"/>
                  </a:ext>
                </a:extLst>
              </p:cNvPr>
              <p:cNvSpPr txBox="1"/>
              <p:nvPr/>
            </p:nvSpPr>
            <p:spPr>
              <a:xfrm>
                <a:off x="3723224" y="6638793"/>
                <a:ext cx="1137650" cy="184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750" spc="0" baseline="0">
                    <a:ln/>
                    <a:solidFill>
                      <a:srgbClr val="475569"/>
                    </a:solidFill>
                    <a:latin typeface="Segoe UI"/>
                    <a:cs typeface="Segoe UI"/>
                    <a:sym typeface="Segoe UI"/>
                    <a:rtl val="0"/>
                  </a:rPr>
                  <a:t>derives from / cross-references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1002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610</Words>
  <Application>Microsoft Office PowerPoint</Application>
  <PresentationFormat>Widescreen</PresentationFormat>
  <Paragraphs>117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Segoe UI Emoji</vt:lpstr>
      <vt:lpstr>Segoe UI 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Gilfix</dc:creator>
  <cp:lastModifiedBy>Adam Gilfix</cp:lastModifiedBy>
  <cp:revision>2</cp:revision>
  <dcterms:created xsi:type="dcterms:W3CDTF">2026-03-10T16:44:20Z</dcterms:created>
  <dcterms:modified xsi:type="dcterms:W3CDTF">2026-03-10T17:25:17Z</dcterms:modified>
</cp:coreProperties>
</file>